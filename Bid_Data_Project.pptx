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Lst>
  <p:sldSz cy="10287000" cx="18288000"/>
  <p:notesSz cx="6858000" cy="9144000"/>
  <p:embeddedFontLst>
    <p:embeddedFont>
      <p:font typeface="DM Sans"/>
      <p:bold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BB86042-AA1B-479C-B83E-C9E739713C57}">
  <a:tblStyle styleId="{EBB86042-AA1B-479C-B83E-C9E739713C57}"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DMSans-boldItalic.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font" Target="fonts/DMSans-bold.fntdata"/><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1" Type="http://schemas.openxmlformats.org/officeDocument/2006/relationships/image" Target="../media/image4.png"/><Relationship Id="rId10" Type="http://schemas.openxmlformats.org/officeDocument/2006/relationships/image" Target="../media/image1.png"/><Relationship Id="rId13" Type="http://schemas.openxmlformats.org/officeDocument/2006/relationships/image" Target="../media/image5.png"/><Relationship Id="rId12" Type="http://schemas.openxmlformats.org/officeDocument/2006/relationships/image" Target="../media/image20.png"/><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8.png"/><Relationship Id="rId4" Type="http://schemas.openxmlformats.org/officeDocument/2006/relationships/image" Target="../media/image6.png"/><Relationship Id="rId9" Type="http://schemas.openxmlformats.org/officeDocument/2006/relationships/image" Target="../media/image14.png"/><Relationship Id="rId15" Type="http://schemas.openxmlformats.org/officeDocument/2006/relationships/image" Target="../media/image7.png"/><Relationship Id="rId14" Type="http://schemas.openxmlformats.org/officeDocument/2006/relationships/image" Target="../media/image23.png"/><Relationship Id="rId17" Type="http://schemas.openxmlformats.org/officeDocument/2006/relationships/image" Target="../media/image28.png"/><Relationship Id="rId16"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2.png"/><Relationship Id="rId7" Type="http://schemas.openxmlformats.org/officeDocument/2006/relationships/image" Target="../media/image21.png"/><Relationship Id="rId8" Type="http://schemas.openxmlformats.org/officeDocument/2006/relationships/image" Target="../media/image1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8.png"/><Relationship Id="rId4" Type="http://schemas.openxmlformats.org/officeDocument/2006/relationships/image" Target="../media/image21.png"/><Relationship Id="rId5" Type="http://schemas.openxmlformats.org/officeDocument/2006/relationships/image" Target="../media/image19.png"/><Relationship Id="rId6" Type="http://schemas.openxmlformats.org/officeDocument/2006/relationships/image" Target="../media/image1.png"/><Relationship Id="rId7" Type="http://schemas.openxmlformats.org/officeDocument/2006/relationships/image" Target="../media/image5.png"/><Relationship Id="rId8" Type="http://schemas.openxmlformats.org/officeDocument/2006/relationships/image" Target="../media/image1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8.png"/><Relationship Id="rId4" Type="http://schemas.openxmlformats.org/officeDocument/2006/relationships/image" Target="../media/image21.png"/><Relationship Id="rId5" Type="http://schemas.openxmlformats.org/officeDocument/2006/relationships/image" Target="../media/image19.png"/><Relationship Id="rId6" Type="http://schemas.openxmlformats.org/officeDocument/2006/relationships/image" Target="../media/image1.png"/><Relationship Id="rId7" Type="http://schemas.openxmlformats.org/officeDocument/2006/relationships/image" Target="../media/image5.png"/><Relationship Id="rId8" Type="http://schemas.openxmlformats.org/officeDocument/2006/relationships/image" Target="../media/image16.png"/></Relationships>
</file>

<file path=ppt/slides/_rels/slide4.xml.rels><?xml version="1.0" encoding="UTF-8" standalone="yes"?><Relationships xmlns="http://schemas.openxmlformats.org/package/2006/relationships"><Relationship Id="rId11" Type="http://schemas.openxmlformats.org/officeDocument/2006/relationships/image" Target="../media/image28.png"/><Relationship Id="rId10" Type="http://schemas.openxmlformats.org/officeDocument/2006/relationships/image" Target="../media/image7.png"/><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8.png"/><Relationship Id="rId4" Type="http://schemas.openxmlformats.org/officeDocument/2006/relationships/image" Target="../media/image6.png"/><Relationship Id="rId9" Type="http://schemas.openxmlformats.org/officeDocument/2006/relationships/image" Target="../media/image5.png"/><Relationship Id="rId5" Type="http://schemas.openxmlformats.org/officeDocument/2006/relationships/image" Target="../media/image21.png"/><Relationship Id="rId6" Type="http://schemas.openxmlformats.org/officeDocument/2006/relationships/image" Target="../media/image19.png"/><Relationship Id="rId7" Type="http://schemas.openxmlformats.org/officeDocument/2006/relationships/image" Target="../media/image1.png"/><Relationship Id="rId8"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8.png"/><Relationship Id="rId4" Type="http://schemas.openxmlformats.org/officeDocument/2006/relationships/image" Target="../media/image17.png"/><Relationship Id="rId5" Type="http://schemas.openxmlformats.org/officeDocument/2006/relationships/image" Target="../media/image4.png"/><Relationship Id="rId6" Type="http://schemas.openxmlformats.org/officeDocument/2006/relationships/image" Target="../media/image7.png"/><Relationship Id="rId7" Type="http://schemas.openxmlformats.org/officeDocument/2006/relationships/image" Target="../media/image2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8.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8.png"/><Relationship Id="rId4" Type="http://schemas.openxmlformats.org/officeDocument/2006/relationships/image" Target="../media/image3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8.png"/><Relationship Id="rId4" Type="http://schemas.openxmlformats.org/officeDocument/2006/relationships/image" Target="../media/image5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8.png"/><Relationship Id="rId4" Type="http://schemas.openxmlformats.org/officeDocument/2006/relationships/image" Target="../media/image3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8.png"/><Relationship Id="rId4" Type="http://schemas.openxmlformats.org/officeDocument/2006/relationships/image" Target="../media/image5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8.png"/><Relationship Id="rId4" Type="http://schemas.openxmlformats.org/officeDocument/2006/relationships/image" Target="../media/image3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8.png"/><Relationship Id="rId4" Type="http://schemas.openxmlformats.org/officeDocument/2006/relationships/image" Target="../media/image5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8.png"/><Relationship Id="rId4" Type="http://schemas.openxmlformats.org/officeDocument/2006/relationships/image" Target="../media/image2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8.png"/><Relationship Id="rId4" Type="http://schemas.openxmlformats.org/officeDocument/2006/relationships/image" Target="../media/image2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8.png"/><Relationship Id="rId4" Type="http://schemas.openxmlformats.org/officeDocument/2006/relationships/image" Target="../media/image3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8.png"/><Relationship Id="rId4" Type="http://schemas.openxmlformats.org/officeDocument/2006/relationships/image" Target="../media/image3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8.png"/><Relationship Id="rId4" Type="http://schemas.openxmlformats.org/officeDocument/2006/relationships/image" Target="../media/image3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8.png"/><Relationship Id="rId4" Type="http://schemas.openxmlformats.org/officeDocument/2006/relationships/image" Target="../media/image3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8.png"/><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8.png"/><Relationship Id="rId4" Type="http://schemas.openxmlformats.org/officeDocument/2006/relationships/image" Target="../media/image5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8.png"/><Relationship Id="rId4" Type="http://schemas.openxmlformats.org/officeDocument/2006/relationships/image" Target="../media/image4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8.png"/><Relationship Id="rId4" Type="http://schemas.openxmlformats.org/officeDocument/2006/relationships/image" Target="../media/image4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8.png"/><Relationship Id="rId4" Type="http://schemas.openxmlformats.org/officeDocument/2006/relationships/image" Target="../media/image4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8.png"/><Relationship Id="rId4" Type="http://schemas.openxmlformats.org/officeDocument/2006/relationships/image" Target="../media/image5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8.png"/><Relationship Id="rId4" Type="http://schemas.openxmlformats.org/officeDocument/2006/relationships/image" Target="../media/image4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8.png"/><Relationship Id="rId4" Type="http://schemas.openxmlformats.org/officeDocument/2006/relationships/image" Target="../media/image4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8.png"/><Relationship Id="rId4" Type="http://schemas.openxmlformats.org/officeDocument/2006/relationships/image" Target="../media/image4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8.png"/><Relationship Id="rId4" Type="http://schemas.openxmlformats.org/officeDocument/2006/relationships/image" Target="../media/image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8.png"/><Relationship Id="rId4" Type="http://schemas.openxmlformats.org/officeDocument/2006/relationships/image" Target="../media/image4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8.png"/><Relationship Id="rId4" Type="http://schemas.openxmlformats.org/officeDocument/2006/relationships/image" Target="../media/image4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8.png"/></Relationships>
</file>

<file path=ppt/slides/_rels/slide32.xml.rels><?xml version="1.0" encoding="UTF-8" standalone="yes"?><Relationships xmlns="http://schemas.openxmlformats.org/package/2006/relationships"><Relationship Id="rId11" Type="http://schemas.openxmlformats.org/officeDocument/2006/relationships/image" Target="../media/image20.png"/><Relationship Id="rId10" Type="http://schemas.openxmlformats.org/officeDocument/2006/relationships/image" Target="../media/image4.png"/><Relationship Id="rId13" Type="http://schemas.openxmlformats.org/officeDocument/2006/relationships/image" Target="../media/image23.png"/><Relationship Id="rId12" Type="http://schemas.openxmlformats.org/officeDocument/2006/relationships/image" Target="../media/image5.png"/><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8.png"/><Relationship Id="rId4" Type="http://schemas.openxmlformats.org/officeDocument/2006/relationships/image" Target="../media/image6.png"/><Relationship Id="rId9" Type="http://schemas.openxmlformats.org/officeDocument/2006/relationships/image" Target="../media/image1.png"/><Relationship Id="rId15" Type="http://schemas.openxmlformats.org/officeDocument/2006/relationships/image" Target="../media/image16.png"/><Relationship Id="rId14" Type="http://schemas.openxmlformats.org/officeDocument/2006/relationships/image" Target="../media/image7.png"/><Relationship Id="rId16" Type="http://schemas.openxmlformats.org/officeDocument/2006/relationships/image" Target="../media/image28.png"/><Relationship Id="rId5" Type="http://schemas.openxmlformats.org/officeDocument/2006/relationships/image" Target="../media/image17.png"/><Relationship Id="rId6" Type="http://schemas.openxmlformats.org/officeDocument/2006/relationships/image" Target="../media/image21.png"/><Relationship Id="rId7" Type="http://schemas.openxmlformats.org/officeDocument/2006/relationships/image" Target="../media/image19.png"/><Relationship Id="rId8"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3"/>
          <p:cNvSpPr/>
          <p:nvPr/>
        </p:nvSpPr>
        <p:spPr>
          <a:xfrm rot="-5400000">
            <a:off x="4000500" y="-4000500"/>
            <a:ext cx="10287000" cy="18288000"/>
          </a:xfrm>
          <a:custGeom>
            <a:rect b="b" l="l" r="r" t="t"/>
            <a:pathLst>
              <a:path extrusionOk="0" h="18288000" w="10287000">
                <a:moveTo>
                  <a:pt x="10287000" y="0"/>
                </a:moveTo>
                <a:lnTo>
                  <a:pt x="10287000" y="18288000"/>
                </a:lnTo>
                <a:lnTo>
                  <a:pt x="0" y="18288000"/>
                </a:lnTo>
                <a:lnTo>
                  <a:pt x="0" y="0"/>
                </a:lnTo>
                <a:lnTo>
                  <a:pt x="10287000" y="0"/>
                </a:lnTo>
                <a:close/>
              </a:path>
            </a:pathLst>
          </a:custGeom>
          <a:blipFill rotWithShape="1">
            <a:blip r:embed="rId3">
              <a:alphaModFix/>
            </a:blip>
            <a:stretch>
              <a:fillRect b="-2747" l="-71865" r="-74156" t="-363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5" name="Google Shape;85;p13"/>
          <p:cNvSpPr/>
          <p:nvPr/>
        </p:nvSpPr>
        <p:spPr>
          <a:xfrm>
            <a:off x="-2329398" y="8614893"/>
            <a:ext cx="4899948" cy="3344214"/>
          </a:xfrm>
          <a:custGeom>
            <a:rect b="b" l="l" r="r" t="t"/>
            <a:pathLst>
              <a:path extrusionOk="0" h="3344214" w="4899948">
                <a:moveTo>
                  <a:pt x="0" y="0"/>
                </a:moveTo>
                <a:lnTo>
                  <a:pt x="4899947" y="0"/>
                </a:lnTo>
                <a:lnTo>
                  <a:pt x="4899947" y="3344214"/>
                </a:lnTo>
                <a:lnTo>
                  <a:pt x="0" y="3344214"/>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6" name="Google Shape;86;p13"/>
          <p:cNvSpPr/>
          <p:nvPr/>
        </p:nvSpPr>
        <p:spPr>
          <a:xfrm>
            <a:off x="6030709" y="9258300"/>
            <a:ext cx="3059829" cy="751049"/>
          </a:xfrm>
          <a:custGeom>
            <a:rect b="b" l="l" r="r" t="t"/>
            <a:pathLst>
              <a:path extrusionOk="0" h="751049" w="3059829">
                <a:moveTo>
                  <a:pt x="0" y="0"/>
                </a:moveTo>
                <a:lnTo>
                  <a:pt x="3059829" y="0"/>
                </a:lnTo>
                <a:lnTo>
                  <a:pt x="3059829" y="751049"/>
                </a:lnTo>
                <a:lnTo>
                  <a:pt x="0" y="751049"/>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7" name="Google Shape;87;p13"/>
          <p:cNvSpPr/>
          <p:nvPr/>
        </p:nvSpPr>
        <p:spPr>
          <a:xfrm>
            <a:off x="14236705" y="6409875"/>
            <a:ext cx="724985" cy="920616"/>
          </a:xfrm>
          <a:custGeom>
            <a:rect b="b" l="l" r="r" t="t"/>
            <a:pathLst>
              <a:path extrusionOk="0" h="920616" w="724985">
                <a:moveTo>
                  <a:pt x="0" y="0"/>
                </a:moveTo>
                <a:lnTo>
                  <a:pt x="724986" y="0"/>
                </a:lnTo>
                <a:lnTo>
                  <a:pt x="724986" y="920616"/>
                </a:lnTo>
                <a:lnTo>
                  <a:pt x="0" y="920616"/>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8" name="Google Shape;88;p13"/>
          <p:cNvSpPr/>
          <p:nvPr/>
        </p:nvSpPr>
        <p:spPr>
          <a:xfrm>
            <a:off x="14215205" y="8540136"/>
            <a:ext cx="4602314" cy="3618569"/>
          </a:xfrm>
          <a:custGeom>
            <a:rect b="b" l="l" r="r" t="t"/>
            <a:pathLst>
              <a:path extrusionOk="0" h="3618569" w="4602314">
                <a:moveTo>
                  <a:pt x="0" y="0"/>
                </a:moveTo>
                <a:lnTo>
                  <a:pt x="4602314" y="0"/>
                </a:lnTo>
                <a:lnTo>
                  <a:pt x="4602314" y="3618570"/>
                </a:lnTo>
                <a:lnTo>
                  <a:pt x="0" y="3618570"/>
                </a:lnTo>
                <a:lnTo>
                  <a:pt x="0" y="0"/>
                </a:lnTo>
                <a:close/>
              </a:path>
            </a:pathLst>
          </a:cu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9" name="Google Shape;89;p13"/>
          <p:cNvSpPr/>
          <p:nvPr/>
        </p:nvSpPr>
        <p:spPr>
          <a:xfrm>
            <a:off x="-674156" y="-1072630"/>
            <a:ext cx="4899948" cy="3068592"/>
          </a:xfrm>
          <a:custGeom>
            <a:rect b="b" l="l" r="r" t="t"/>
            <a:pathLst>
              <a:path extrusionOk="0" h="3068592" w="4899948">
                <a:moveTo>
                  <a:pt x="0" y="0"/>
                </a:moveTo>
                <a:lnTo>
                  <a:pt x="4899948" y="0"/>
                </a:lnTo>
                <a:lnTo>
                  <a:pt x="4899948" y="3068592"/>
                </a:lnTo>
                <a:lnTo>
                  <a:pt x="0" y="3068592"/>
                </a:lnTo>
                <a:lnTo>
                  <a:pt x="0" y="0"/>
                </a:lnTo>
                <a:close/>
              </a:path>
            </a:pathLst>
          </a:custGeom>
          <a:blipFill rotWithShape="1">
            <a:blip r:embed="rId8">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0" name="Google Shape;90;p13"/>
          <p:cNvSpPr/>
          <p:nvPr/>
        </p:nvSpPr>
        <p:spPr>
          <a:xfrm>
            <a:off x="12686214" y="-2578193"/>
            <a:ext cx="4292424" cy="3870986"/>
          </a:xfrm>
          <a:custGeom>
            <a:rect b="b" l="l" r="r" t="t"/>
            <a:pathLst>
              <a:path extrusionOk="0" h="3870986" w="4292424">
                <a:moveTo>
                  <a:pt x="0" y="0"/>
                </a:moveTo>
                <a:lnTo>
                  <a:pt x="4292424" y="0"/>
                </a:lnTo>
                <a:lnTo>
                  <a:pt x="4292424" y="3870986"/>
                </a:lnTo>
                <a:lnTo>
                  <a:pt x="0" y="3870986"/>
                </a:lnTo>
                <a:lnTo>
                  <a:pt x="0" y="0"/>
                </a:lnTo>
                <a:close/>
              </a:path>
            </a:pathLst>
          </a:custGeom>
          <a:blipFill rotWithShape="1">
            <a:blip r:embed="rId9">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1" name="Google Shape;91;p13"/>
          <p:cNvSpPr/>
          <p:nvPr/>
        </p:nvSpPr>
        <p:spPr>
          <a:xfrm>
            <a:off x="10138935" y="9258300"/>
            <a:ext cx="4076270" cy="2863579"/>
          </a:xfrm>
          <a:custGeom>
            <a:rect b="b" l="l" r="r" t="t"/>
            <a:pathLst>
              <a:path extrusionOk="0" h="2863579" w="4076270">
                <a:moveTo>
                  <a:pt x="0" y="0"/>
                </a:moveTo>
                <a:lnTo>
                  <a:pt x="4076270" y="0"/>
                </a:lnTo>
                <a:lnTo>
                  <a:pt x="4076270" y="2863579"/>
                </a:lnTo>
                <a:lnTo>
                  <a:pt x="0" y="2863579"/>
                </a:lnTo>
                <a:lnTo>
                  <a:pt x="0" y="0"/>
                </a:lnTo>
                <a:close/>
              </a:path>
            </a:pathLst>
          </a:custGeom>
          <a:blipFill rotWithShape="1">
            <a:blip r:embed="rId10">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2" name="Google Shape;92;p13"/>
          <p:cNvSpPr/>
          <p:nvPr/>
        </p:nvSpPr>
        <p:spPr>
          <a:xfrm>
            <a:off x="7409323" y="-2700100"/>
            <a:ext cx="5493058" cy="4114800"/>
          </a:xfrm>
          <a:custGeom>
            <a:rect b="b" l="l" r="r" t="t"/>
            <a:pathLst>
              <a:path extrusionOk="0" h="4114800" w="5493058">
                <a:moveTo>
                  <a:pt x="0" y="0"/>
                </a:moveTo>
                <a:lnTo>
                  <a:pt x="5493058" y="0"/>
                </a:lnTo>
                <a:lnTo>
                  <a:pt x="5493058" y="4114800"/>
                </a:lnTo>
                <a:lnTo>
                  <a:pt x="0" y="4114800"/>
                </a:lnTo>
                <a:lnTo>
                  <a:pt x="0" y="0"/>
                </a:lnTo>
                <a:close/>
              </a:path>
            </a:pathLst>
          </a:custGeom>
          <a:blipFill rotWithShape="1">
            <a:blip r:embed="rId11">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3" name="Google Shape;93;p13"/>
          <p:cNvSpPr/>
          <p:nvPr/>
        </p:nvSpPr>
        <p:spPr>
          <a:xfrm rot="4747568">
            <a:off x="-2972342" y="3665317"/>
            <a:ext cx="4896097" cy="2735694"/>
          </a:xfrm>
          <a:custGeom>
            <a:rect b="b" l="l" r="r" t="t"/>
            <a:pathLst>
              <a:path extrusionOk="0" h="2735694" w="4896097">
                <a:moveTo>
                  <a:pt x="0" y="0"/>
                </a:moveTo>
                <a:lnTo>
                  <a:pt x="4896097" y="0"/>
                </a:lnTo>
                <a:lnTo>
                  <a:pt x="4896097" y="2735694"/>
                </a:lnTo>
                <a:lnTo>
                  <a:pt x="0" y="2735694"/>
                </a:lnTo>
                <a:lnTo>
                  <a:pt x="0" y="0"/>
                </a:lnTo>
                <a:close/>
              </a:path>
            </a:pathLst>
          </a:custGeom>
          <a:blipFill rotWithShape="1">
            <a:blip r:embed="rId1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4" name="Google Shape;94;p13"/>
          <p:cNvSpPr/>
          <p:nvPr/>
        </p:nvSpPr>
        <p:spPr>
          <a:xfrm>
            <a:off x="4831481" y="-1626507"/>
            <a:ext cx="2892762" cy="2919301"/>
          </a:xfrm>
          <a:custGeom>
            <a:rect b="b" l="l" r="r" t="t"/>
            <a:pathLst>
              <a:path extrusionOk="0" h="2919301" w="2892762">
                <a:moveTo>
                  <a:pt x="0" y="0"/>
                </a:moveTo>
                <a:lnTo>
                  <a:pt x="2892761" y="0"/>
                </a:lnTo>
                <a:lnTo>
                  <a:pt x="2892761" y="2919300"/>
                </a:lnTo>
                <a:lnTo>
                  <a:pt x="0" y="2919300"/>
                </a:lnTo>
                <a:lnTo>
                  <a:pt x="0" y="0"/>
                </a:lnTo>
                <a:close/>
              </a:path>
            </a:pathLst>
          </a:custGeom>
          <a:blipFill rotWithShape="1">
            <a:blip r:embed="rId1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5" name="Google Shape;95;p13"/>
          <p:cNvSpPr/>
          <p:nvPr/>
        </p:nvSpPr>
        <p:spPr>
          <a:xfrm>
            <a:off x="17259300" y="2262342"/>
            <a:ext cx="3575541" cy="3575541"/>
          </a:xfrm>
          <a:custGeom>
            <a:rect b="b" l="l" r="r" t="t"/>
            <a:pathLst>
              <a:path extrusionOk="0" h="3575541" w="3575541">
                <a:moveTo>
                  <a:pt x="0" y="0"/>
                </a:moveTo>
                <a:lnTo>
                  <a:pt x="3575541" y="0"/>
                </a:lnTo>
                <a:lnTo>
                  <a:pt x="3575541" y="3575541"/>
                </a:lnTo>
                <a:lnTo>
                  <a:pt x="0" y="3575541"/>
                </a:lnTo>
                <a:lnTo>
                  <a:pt x="0" y="0"/>
                </a:lnTo>
                <a:close/>
              </a:path>
            </a:pathLst>
          </a:custGeom>
          <a:blipFill rotWithShape="1">
            <a:blip r:embed="rId1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6" name="Google Shape;96;p13"/>
          <p:cNvSpPr/>
          <p:nvPr/>
        </p:nvSpPr>
        <p:spPr>
          <a:xfrm>
            <a:off x="2570549" y="9093737"/>
            <a:ext cx="2587020" cy="2386526"/>
          </a:xfrm>
          <a:custGeom>
            <a:rect b="b" l="l" r="r" t="t"/>
            <a:pathLst>
              <a:path extrusionOk="0" h="2386526" w="2587020">
                <a:moveTo>
                  <a:pt x="0" y="0"/>
                </a:moveTo>
                <a:lnTo>
                  <a:pt x="2587020" y="0"/>
                </a:lnTo>
                <a:lnTo>
                  <a:pt x="2587020" y="2386526"/>
                </a:lnTo>
                <a:lnTo>
                  <a:pt x="0" y="2386526"/>
                </a:lnTo>
                <a:lnTo>
                  <a:pt x="0" y="0"/>
                </a:lnTo>
                <a:close/>
              </a:path>
            </a:pathLst>
          </a:custGeom>
          <a:blipFill rotWithShape="1">
            <a:blip r:embed="rId1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7" name="Google Shape;97;p13"/>
          <p:cNvSpPr/>
          <p:nvPr/>
        </p:nvSpPr>
        <p:spPr>
          <a:xfrm rot="-5282649">
            <a:off x="16440369" y="6970869"/>
            <a:ext cx="3382987" cy="1154444"/>
          </a:xfrm>
          <a:custGeom>
            <a:rect b="b" l="l" r="r" t="t"/>
            <a:pathLst>
              <a:path extrusionOk="0" h="1154444" w="3382987">
                <a:moveTo>
                  <a:pt x="0" y="0"/>
                </a:moveTo>
                <a:lnTo>
                  <a:pt x="3382987" y="0"/>
                </a:lnTo>
                <a:lnTo>
                  <a:pt x="3382987" y="1154445"/>
                </a:lnTo>
                <a:lnTo>
                  <a:pt x="0" y="1154445"/>
                </a:lnTo>
                <a:lnTo>
                  <a:pt x="0" y="0"/>
                </a:lnTo>
                <a:close/>
              </a:path>
            </a:pathLst>
          </a:custGeom>
          <a:blipFill rotWithShape="1">
            <a:blip r:embed="rId1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8" name="Google Shape;98;p13"/>
          <p:cNvSpPr/>
          <p:nvPr/>
        </p:nvSpPr>
        <p:spPr>
          <a:xfrm>
            <a:off x="16978638" y="-642644"/>
            <a:ext cx="3104522" cy="3342688"/>
          </a:xfrm>
          <a:custGeom>
            <a:rect b="b" l="l" r="r" t="t"/>
            <a:pathLst>
              <a:path extrusionOk="0" h="3342688" w="3104522">
                <a:moveTo>
                  <a:pt x="0" y="0"/>
                </a:moveTo>
                <a:lnTo>
                  <a:pt x="3104522" y="0"/>
                </a:lnTo>
                <a:lnTo>
                  <a:pt x="3104522" y="3342688"/>
                </a:lnTo>
                <a:lnTo>
                  <a:pt x="0" y="3342688"/>
                </a:lnTo>
                <a:lnTo>
                  <a:pt x="0" y="0"/>
                </a:lnTo>
                <a:close/>
              </a:path>
            </a:pathLst>
          </a:custGeom>
          <a:blipFill rotWithShape="1">
            <a:blip r:embed="rId17">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9" name="Google Shape;99;p13"/>
          <p:cNvSpPr txBox="1"/>
          <p:nvPr/>
        </p:nvSpPr>
        <p:spPr>
          <a:xfrm>
            <a:off x="1828800" y="3136543"/>
            <a:ext cx="14020800" cy="1393267"/>
          </a:xfrm>
          <a:prstGeom prst="rect">
            <a:avLst/>
          </a:prstGeom>
          <a:noFill/>
          <a:ln>
            <a:noFill/>
          </a:ln>
        </p:spPr>
        <p:txBody>
          <a:bodyPr anchorCtr="0" anchor="t" bIns="0" lIns="0" spcFirstLastPara="1" rIns="0" wrap="square" tIns="0">
            <a:spAutoFit/>
          </a:bodyPr>
          <a:lstStyle/>
          <a:p>
            <a:pPr indent="0" lvl="0" marL="0" marR="0" rtl="0" algn="ctr">
              <a:lnSpc>
                <a:spcPct val="203633"/>
              </a:lnSpc>
              <a:spcBef>
                <a:spcPts val="0"/>
              </a:spcBef>
              <a:spcAft>
                <a:spcPts val="0"/>
              </a:spcAft>
              <a:buNone/>
            </a:pPr>
            <a:r>
              <a:rPr b="1" lang="en-US" sz="6000">
                <a:solidFill>
                  <a:srgbClr val="000000"/>
                </a:solidFill>
                <a:latin typeface="DM Sans"/>
                <a:ea typeface="DM Sans"/>
                <a:cs typeface="DM Sans"/>
                <a:sym typeface="DM Sans"/>
              </a:rPr>
              <a:t>E-commerce Customer Satisfaction</a:t>
            </a:r>
            <a:endParaRPr/>
          </a:p>
        </p:txBody>
      </p:sp>
      <p:sp>
        <p:nvSpPr>
          <p:cNvPr id="100" name="Google Shape;100;p13"/>
          <p:cNvSpPr txBox="1"/>
          <p:nvPr/>
        </p:nvSpPr>
        <p:spPr>
          <a:xfrm>
            <a:off x="4838518" y="5554868"/>
            <a:ext cx="8459795" cy="20313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4400">
                <a:solidFill>
                  <a:schemeClr val="dk1"/>
                </a:solidFill>
                <a:latin typeface="Calibri"/>
                <a:ea typeface="Calibri"/>
                <a:cs typeface="Calibri"/>
                <a:sym typeface="Calibri"/>
              </a:rPr>
              <a:t>Supervised by :</a:t>
            </a:r>
            <a:endParaRPr/>
          </a:p>
          <a:p>
            <a:pPr indent="0" lvl="0" marL="0" marR="0" rtl="0" algn="ctr">
              <a:spcBef>
                <a:spcPts val="0"/>
              </a:spcBef>
              <a:spcAft>
                <a:spcPts val="0"/>
              </a:spcAft>
              <a:buNone/>
            </a:pPr>
            <a:r>
              <a:rPr b="1" lang="en-US" sz="4400">
                <a:solidFill>
                  <a:schemeClr val="dk1"/>
                </a:solidFill>
                <a:latin typeface="Calibri"/>
                <a:ea typeface="Calibri"/>
                <a:cs typeface="Calibri"/>
                <a:sym typeface="Calibri"/>
              </a:rPr>
              <a:t>Dr. Lydia Wahid</a:t>
            </a:r>
            <a:endParaRPr/>
          </a:p>
          <a:p>
            <a:pPr indent="0" lvl="0" marL="0" marR="0" rtl="0" algn="ctr">
              <a:spcBef>
                <a:spcPts val="0"/>
              </a:spcBef>
              <a:spcAft>
                <a:spcPts val="0"/>
              </a:spcAft>
              <a:buNone/>
            </a:pPr>
            <a:r>
              <a:rPr b="1" lang="en-US" sz="4400">
                <a:solidFill>
                  <a:schemeClr val="dk1"/>
                </a:solidFill>
                <a:latin typeface="Calibri"/>
                <a:ea typeface="Calibri"/>
                <a:cs typeface="Calibri"/>
                <a:sym typeface="Calibri"/>
              </a:rPr>
              <a:t> Eng. Omar Samir</a:t>
            </a:r>
            <a:endParaRPr b="1" sz="4381">
              <a:solidFill>
                <a:srgbClr val="000000"/>
              </a:solidFill>
              <a:latin typeface="DM Sans"/>
              <a:ea typeface="DM Sans"/>
              <a:cs typeface="DM Sans"/>
              <a:sym typeface="DM Sans"/>
            </a:endParaRPr>
          </a:p>
        </p:txBody>
      </p:sp>
      <p:sp>
        <p:nvSpPr>
          <p:cNvPr id="101" name="Google Shape;101;p13"/>
          <p:cNvSpPr/>
          <p:nvPr/>
        </p:nvSpPr>
        <p:spPr>
          <a:xfrm>
            <a:off x="4737926" y="2576219"/>
            <a:ext cx="724985" cy="920616"/>
          </a:xfrm>
          <a:custGeom>
            <a:rect b="b" l="l" r="r" t="t"/>
            <a:pathLst>
              <a:path extrusionOk="0" h="920616" w="724985">
                <a:moveTo>
                  <a:pt x="0" y="0"/>
                </a:moveTo>
                <a:lnTo>
                  <a:pt x="724985" y="0"/>
                </a:lnTo>
                <a:lnTo>
                  <a:pt x="724985" y="920616"/>
                </a:lnTo>
                <a:lnTo>
                  <a:pt x="0" y="920616"/>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4"/>
          <p:cNvSpPr/>
          <p:nvPr/>
        </p:nvSpPr>
        <p:spPr>
          <a:xfrm rot="-5400000">
            <a:off x="4000500" y="-4000500"/>
            <a:ext cx="10287000" cy="18288000"/>
          </a:xfrm>
          <a:custGeom>
            <a:rect b="b" l="l" r="r" t="t"/>
            <a:pathLst>
              <a:path extrusionOk="0" h="18288000" w="10287000">
                <a:moveTo>
                  <a:pt x="10287000" y="0"/>
                </a:moveTo>
                <a:lnTo>
                  <a:pt x="10287000" y="18288000"/>
                </a:lnTo>
                <a:lnTo>
                  <a:pt x="0" y="18288000"/>
                </a:lnTo>
                <a:lnTo>
                  <a:pt x="0" y="0"/>
                </a:lnTo>
                <a:lnTo>
                  <a:pt x="10287000" y="0"/>
                </a:lnTo>
                <a:close/>
              </a:path>
            </a:pathLst>
          </a:custGeom>
          <a:blipFill rotWithShape="1">
            <a:blip r:embed="rId3">
              <a:alphaModFix/>
            </a:blip>
            <a:stretch>
              <a:fillRect b="-2747" l="-71865" r="-74156" t="-363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7" name="Google Shape;107;p14"/>
          <p:cNvSpPr/>
          <p:nvPr/>
        </p:nvSpPr>
        <p:spPr>
          <a:xfrm>
            <a:off x="15353489" y="8540136"/>
            <a:ext cx="4602314" cy="3618569"/>
          </a:xfrm>
          <a:custGeom>
            <a:rect b="b" l="l" r="r" t="t"/>
            <a:pathLst>
              <a:path extrusionOk="0" h="3618569" w="4602314">
                <a:moveTo>
                  <a:pt x="0" y="0"/>
                </a:moveTo>
                <a:lnTo>
                  <a:pt x="4602314" y="0"/>
                </a:lnTo>
                <a:lnTo>
                  <a:pt x="4602314" y="3618570"/>
                </a:lnTo>
                <a:lnTo>
                  <a:pt x="0" y="361857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8" name="Google Shape;108;p14"/>
          <p:cNvSpPr/>
          <p:nvPr/>
        </p:nvSpPr>
        <p:spPr>
          <a:xfrm>
            <a:off x="-674156" y="-1072630"/>
            <a:ext cx="4899948" cy="3068592"/>
          </a:xfrm>
          <a:custGeom>
            <a:rect b="b" l="l" r="r" t="t"/>
            <a:pathLst>
              <a:path extrusionOk="0" h="3068592" w="4899948">
                <a:moveTo>
                  <a:pt x="0" y="0"/>
                </a:moveTo>
                <a:lnTo>
                  <a:pt x="4899948" y="0"/>
                </a:lnTo>
                <a:lnTo>
                  <a:pt x="4899948" y="3068592"/>
                </a:lnTo>
                <a:lnTo>
                  <a:pt x="0" y="3068592"/>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9" name="Google Shape;109;p14"/>
          <p:cNvSpPr/>
          <p:nvPr/>
        </p:nvSpPr>
        <p:spPr>
          <a:xfrm>
            <a:off x="9144000" y="9258300"/>
            <a:ext cx="4076270" cy="2863579"/>
          </a:xfrm>
          <a:custGeom>
            <a:rect b="b" l="l" r="r" t="t"/>
            <a:pathLst>
              <a:path extrusionOk="0" h="2863579" w="4076270">
                <a:moveTo>
                  <a:pt x="0" y="0"/>
                </a:moveTo>
                <a:lnTo>
                  <a:pt x="4076270" y="0"/>
                </a:lnTo>
                <a:lnTo>
                  <a:pt x="4076270" y="2863579"/>
                </a:lnTo>
                <a:lnTo>
                  <a:pt x="0" y="2863579"/>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0" name="Google Shape;110;p14"/>
          <p:cNvSpPr/>
          <p:nvPr/>
        </p:nvSpPr>
        <p:spPr>
          <a:xfrm>
            <a:off x="5003948" y="-1890601"/>
            <a:ext cx="2892762" cy="2919301"/>
          </a:xfrm>
          <a:custGeom>
            <a:rect b="b" l="l" r="r" t="t"/>
            <a:pathLst>
              <a:path extrusionOk="0" h="2919301" w="2892762">
                <a:moveTo>
                  <a:pt x="0" y="0"/>
                </a:moveTo>
                <a:lnTo>
                  <a:pt x="2892762" y="0"/>
                </a:lnTo>
                <a:lnTo>
                  <a:pt x="2892762" y="2919301"/>
                </a:lnTo>
                <a:lnTo>
                  <a:pt x="0" y="2919301"/>
                </a:lnTo>
                <a:lnTo>
                  <a:pt x="0" y="0"/>
                </a:lnTo>
                <a:close/>
              </a:path>
            </a:pathLst>
          </a:cu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1" name="Google Shape;111;p14"/>
          <p:cNvSpPr/>
          <p:nvPr/>
        </p:nvSpPr>
        <p:spPr>
          <a:xfrm rot="-5282649">
            <a:off x="16004285" y="265374"/>
            <a:ext cx="4017207" cy="1370872"/>
          </a:xfrm>
          <a:custGeom>
            <a:rect b="b" l="l" r="r" t="t"/>
            <a:pathLst>
              <a:path extrusionOk="0" h="1370872" w="4017207">
                <a:moveTo>
                  <a:pt x="0" y="0"/>
                </a:moveTo>
                <a:lnTo>
                  <a:pt x="4017207" y="0"/>
                </a:lnTo>
                <a:lnTo>
                  <a:pt x="4017207" y="1370872"/>
                </a:lnTo>
                <a:lnTo>
                  <a:pt x="0" y="1370872"/>
                </a:lnTo>
                <a:lnTo>
                  <a:pt x="0" y="0"/>
                </a:lnTo>
                <a:close/>
              </a:path>
            </a:pathLst>
          </a:custGeom>
          <a:blipFill rotWithShape="1">
            <a:blip r:embed="rId8">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aphicFrame>
        <p:nvGraphicFramePr>
          <p:cNvPr id="112" name="Google Shape;112;p14"/>
          <p:cNvGraphicFramePr/>
          <p:nvPr/>
        </p:nvGraphicFramePr>
        <p:xfrm>
          <a:off x="2558450" y="2490600"/>
          <a:ext cx="3000000" cy="3000000"/>
        </p:xfrm>
        <a:graphic>
          <a:graphicData uri="http://schemas.openxmlformats.org/drawingml/2006/table">
            <a:tbl>
              <a:tblPr bandRow="1" firstCol="1" firstRow="1">
                <a:noFill/>
                <a:tableStyleId>{EBB86042-AA1B-479C-B83E-C9E739713C57}</a:tableStyleId>
              </a:tblPr>
              <a:tblGrid>
                <a:gridCol w="7294450"/>
                <a:gridCol w="2305000"/>
                <a:gridCol w="2659725"/>
              </a:tblGrid>
              <a:tr h="1310475">
                <a:tc>
                  <a:txBody>
                    <a:bodyPr/>
                    <a:lstStyle/>
                    <a:p>
                      <a:pPr indent="0" lvl="0" marL="0" marR="0" rtl="0" algn="ctr">
                        <a:spcBef>
                          <a:spcPts val="0"/>
                        </a:spcBef>
                        <a:spcAft>
                          <a:spcPts val="0"/>
                        </a:spcAft>
                        <a:buNone/>
                      </a:pPr>
                      <a:r>
                        <a:rPr lang="en-US" sz="4000" u="none" cap="none" strike="noStrike"/>
                        <a:t>Name</a:t>
                      </a:r>
                      <a:endParaRPr sz="4000" u="none" cap="none" strike="noStrike">
                        <a:latin typeface="Times New Roman"/>
                        <a:ea typeface="Times New Roman"/>
                        <a:cs typeface="Times New Roman"/>
                        <a:sym typeface="Times New Roman"/>
                      </a:endParaRPr>
                    </a:p>
                  </a:txBody>
                  <a:tcPr marT="19050" marB="19050" marR="28575" marL="28575" anchor="ctr"/>
                </a:tc>
                <a:tc>
                  <a:txBody>
                    <a:bodyPr/>
                    <a:lstStyle/>
                    <a:p>
                      <a:pPr indent="0" lvl="0" marL="0" marR="0" rtl="0" algn="ctr">
                        <a:spcBef>
                          <a:spcPts val="0"/>
                        </a:spcBef>
                        <a:spcAft>
                          <a:spcPts val="0"/>
                        </a:spcAft>
                        <a:buNone/>
                      </a:pPr>
                      <a:r>
                        <a:rPr lang="en-US" sz="4000" u="none" cap="none" strike="noStrike"/>
                        <a:t>Section</a:t>
                      </a:r>
                      <a:endParaRPr sz="4000" u="none" cap="none" strike="noStrike">
                        <a:latin typeface="Times New Roman"/>
                        <a:ea typeface="Times New Roman"/>
                        <a:cs typeface="Times New Roman"/>
                        <a:sym typeface="Times New Roman"/>
                      </a:endParaRPr>
                    </a:p>
                  </a:txBody>
                  <a:tcPr marT="19050" marB="19050" marR="28575" marL="28575" anchor="ctr"/>
                </a:tc>
                <a:tc>
                  <a:txBody>
                    <a:bodyPr/>
                    <a:lstStyle/>
                    <a:p>
                      <a:pPr indent="0" lvl="0" marL="0" marR="0" rtl="0" algn="ctr">
                        <a:spcBef>
                          <a:spcPts val="0"/>
                        </a:spcBef>
                        <a:spcAft>
                          <a:spcPts val="0"/>
                        </a:spcAft>
                        <a:buNone/>
                      </a:pPr>
                      <a:r>
                        <a:rPr lang="en-US" sz="4000" u="none" cap="none" strike="noStrike"/>
                        <a:t>BN</a:t>
                      </a:r>
                      <a:endParaRPr sz="4000" u="none" cap="none" strike="noStrike">
                        <a:latin typeface="Times New Roman"/>
                        <a:ea typeface="Times New Roman"/>
                        <a:cs typeface="Times New Roman"/>
                        <a:sym typeface="Times New Roman"/>
                      </a:endParaRPr>
                    </a:p>
                  </a:txBody>
                  <a:tcPr marT="19050" marB="19050" marR="28575" marL="28575" anchor="ctr"/>
                </a:tc>
              </a:tr>
              <a:tr h="2387825">
                <a:tc>
                  <a:txBody>
                    <a:bodyPr/>
                    <a:lstStyle/>
                    <a:p>
                      <a:pPr indent="0" lvl="0" marL="0" marR="0" rtl="0" algn="ctr">
                        <a:spcBef>
                          <a:spcPts val="0"/>
                        </a:spcBef>
                        <a:spcAft>
                          <a:spcPts val="0"/>
                        </a:spcAft>
                        <a:buNone/>
                      </a:pPr>
                      <a:r>
                        <a:rPr lang="en-US" sz="4000" u="none" cap="none" strike="noStrike"/>
                        <a:t>Karim Mohamed</a:t>
                      </a:r>
                      <a:endParaRPr sz="4000" u="none" cap="none" strike="noStrike">
                        <a:latin typeface="Times New Roman"/>
                        <a:ea typeface="Times New Roman"/>
                        <a:cs typeface="Times New Roman"/>
                        <a:sym typeface="Times New Roman"/>
                      </a:endParaRPr>
                    </a:p>
                  </a:txBody>
                  <a:tcPr marT="19050" marB="19050" marR="28575" marL="28575" anchor="ctr"/>
                </a:tc>
                <a:tc>
                  <a:txBody>
                    <a:bodyPr/>
                    <a:lstStyle/>
                    <a:p>
                      <a:pPr indent="0" lvl="0" marL="0" marR="0" rtl="0" algn="ctr">
                        <a:spcBef>
                          <a:spcPts val="0"/>
                        </a:spcBef>
                        <a:spcAft>
                          <a:spcPts val="0"/>
                        </a:spcAft>
                        <a:buNone/>
                      </a:pPr>
                      <a:r>
                        <a:rPr lang="en-US" sz="4000" u="none" cap="none" strike="noStrike"/>
                        <a:t>2</a:t>
                      </a:r>
                      <a:endParaRPr sz="4000" u="none" cap="none" strike="noStrike">
                        <a:latin typeface="Times New Roman"/>
                        <a:ea typeface="Times New Roman"/>
                        <a:cs typeface="Times New Roman"/>
                        <a:sym typeface="Times New Roman"/>
                      </a:endParaRPr>
                    </a:p>
                  </a:txBody>
                  <a:tcPr marT="19050" marB="19050" marR="28575" marL="28575" anchor="ctr"/>
                </a:tc>
                <a:tc>
                  <a:txBody>
                    <a:bodyPr/>
                    <a:lstStyle/>
                    <a:p>
                      <a:pPr indent="0" lvl="0" marL="0" marR="0" rtl="0" algn="ctr">
                        <a:spcBef>
                          <a:spcPts val="0"/>
                        </a:spcBef>
                        <a:spcAft>
                          <a:spcPts val="0"/>
                        </a:spcAft>
                        <a:buNone/>
                      </a:pPr>
                      <a:r>
                        <a:rPr lang="en-US" sz="4000" u="none" cap="none" strike="noStrike"/>
                        <a:t>10</a:t>
                      </a:r>
                      <a:endParaRPr sz="4000" u="none" cap="none" strike="noStrike">
                        <a:latin typeface="Times New Roman"/>
                        <a:ea typeface="Times New Roman"/>
                        <a:cs typeface="Times New Roman"/>
                        <a:sym typeface="Times New Roman"/>
                      </a:endParaRPr>
                    </a:p>
                  </a:txBody>
                  <a:tcPr marT="19050" marB="19050" marR="28575" marL="28575" anchor="ct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5"/>
          <p:cNvSpPr/>
          <p:nvPr/>
        </p:nvSpPr>
        <p:spPr>
          <a:xfrm rot="-5400000">
            <a:off x="4000500" y="-4000500"/>
            <a:ext cx="10287000" cy="18288000"/>
          </a:xfrm>
          <a:custGeom>
            <a:rect b="b" l="l" r="r" t="t"/>
            <a:pathLst>
              <a:path extrusionOk="0" h="18288000" w="10287000">
                <a:moveTo>
                  <a:pt x="10287000" y="0"/>
                </a:moveTo>
                <a:lnTo>
                  <a:pt x="10287000" y="18288000"/>
                </a:lnTo>
                <a:lnTo>
                  <a:pt x="0" y="18288000"/>
                </a:lnTo>
                <a:lnTo>
                  <a:pt x="0" y="0"/>
                </a:lnTo>
                <a:lnTo>
                  <a:pt x="10287000" y="0"/>
                </a:lnTo>
                <a:close/>
              </a:path>
            </a:pathLst>
          </a:custGeom>
          <a:blipFill rotWithShape="1">
            <a:blip r:embed="rId3">
              <a:alphaModFix/>
            </a:blip>
            <a:stretch>
              <a:fillRect b="-2747" l="-71865" r="-74156" t="-363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8" name="Google Shape;118;p15"/>
          <p:cNvSpPr txBox="1"/>
          <p:nvPr/>
        </p:nvSpPr>
        <p:spPr>
          <a:xfrm>
            <a:off x="1504950" y="2345718"/>
            <a:ext cx="7848753" cy="1056636"/>
          </a:xfrm>
          <a:prstGeom prst="rect">
            <a:avLst/>
          </a:prstGeom>
          <a:noFill/>
          <a:ln>
            <a:noFill/>
          </a:ln>
        </p:spPr>
        <p:txBody>
          <a:bodyPr anchorCtr="0" anchor="t" bIns="0" lIns="0" spcFirstLastPara="1" rIns="0" wrap="square" tIns="0">
            <a:spAutoFit/>
          </a:bodyPr>
          <a:lstStyle/>
          <a:p>
            <a:pPr indent="0" lvl="0" marL="0" marR="0" rtl="0" algn="l">
              <a:lnSpc>
                <a:spcPct val="145500"/>
              </a:lnSpc>
              <a:spcBef>
                <a:spcPts val="0"/>
              </a:spcBef>
              <a:spcAft>
                <a:spcPts val="0"/>
              </a:spcAft>
              <a:buNone/>
            </a:pPr>
            <a:r>
              <a:rPr b="1" lang="en-US" sz="6000">
                <a:solidFill>
                  <a:srgbClr val="000000"/>
                </a:solidFill>
                <a:latin typeface="DM Sans"/>
                <a:ea typeface="DM Sans"/>
                <a:cs typeface="DM Sans"/>
                <a:sym typeface="DM Sans"/>
              </a:rPr>
              <a:t>Problem Statement</a:t>
            </a:r>
            <a:endParaRPr/>
          </a:p>
        </p:txBody>
      </p:sp>
      <p:sp>
        <p:nvSpPr>
          <p:cNvPr id="119" name="Google Shape;119;p15"/>
          <p:cNvSpPr txBox="1"/>
          <p:nvPr/>
        </p:nvSpPr>
        <p:spPr>
          <a:xfrm>
            <a:off x="1575540" y="4088362"/>
            <a:ext cx="8940060" cy="4562403"/>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lang="en-US" sz="2500">
                <a:solidFill>
                  <a:schemeClr val="dk1"/>
                </a:solidFill>
                <a:latin typeface="Calibri"/>
                <a:ea typeface="Calibri"/>
                <a:cs typeface="Calibri"/>
                <a:sym typeface="Calibri"/>
              </a:rPr>
              <a:t>in this project, we're looking at how satisfied customers are with their online shopping experiences. We're using data from Olist Stores, a big online shop in Brazil. Olist helps small businesses sell their stuff online easily. After people buy something on Olist, they get asked how happy they are with it. We're using this feedback to see if we can predict how satisfied customers will be based on their shopping data. Our goal is to find the best way to understand and predict customer satisfaction.</a:t>
            </a:r>
            <a:endParaRPr sz="2500" u="none">
              <a:solidFill>
                <a:srgbClr val="000000"/>
              </a:solidFill>
              <a:latin typeface="DM Sans"/>
              <a:ea typeface="DM Sans"/>
              <a:cs typeface="DM Sans"/>
              <a:sym typeface="DM Sans"/>
            </a:endParaRPr>
          </a:p>
        </p:txBody>
      </p:sp>
      <p:sp>
        <p:nvSpPr>
          <p:cNvPr id="120" name="Google Shape;120;p15"/>
          <p:cNvSpPr/>
          <p:nvPr/>
        </p:nvSpPr>
        <p:spPr>
          <a:xfrm>
            <a:off x="15353489" y="8540136"/>
            <a:ext cx="4602314" cy="3618569"/>
          </a:xfrm>
          <a:custGeom>
            <a:rect b="b" l="l" r="r" t="t"/>
            <a:pathLst>
              <a:path extrusionOk="0" h="3618569" w="4602314">
                <a:moveTo>
                  <a:pt x="0" y="0"/>
                </a:moveTo>
                <a:lnTo>
                  <a:pt x="4602314" y="0"/>
                </a:lnTo>
                <a:lnTo>
                  <a:pt x="4602314" y="3618570"/>
                </a:lnTo>
                <a:lnTo>
                  <a:pt x="0" y="361857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1" name="Google Shape;121;p15"/>
          <p:cNvSpPr/>
          <p:nvPr/>
        </p:nvSpPr>
        <p:spPr>
          <a:xfrm>
            <a:off x="-674156" y="-1072630"/>
            <a:ext cx="4899948" cy="3068592"/>
          </a:xfrm>
          <a:custGeom>
            <a:rect b="b" l="l" r="r" t="t"/>
            <a:pathLst>
              <a:path extrusionOk="0" h="3068592" w="4899948">
                <a:moveTo>
                  <a:pt x="0" y="0"/>
                </a:moveTo>
                <a:lnTo>
                  <a:pt x="4899948" y="0"/>
                </a:lnTo>
                <a:lnTo>
                  <a:pt x="4899948" y="3068592"/>
                </a:lnTo>
                <a:lnTo>
                  <a:pt x="0" y="3068592"/>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2" name="Google Shape;122;p15"/>
          <p:cNvSpPr/>
          <p:nvPr/>
        </p:nvSpPr>
        <p:spPr>
          <a:xfrm>
            <a:off x="9144000" y="9258300"/>
            <a:ext cx="4076270" cy="2863579"/>
          </a:xfrm>
          <a:custGeom>
            <a:rect b="b" l="l" r="r" t="t"/>
            <a:pathLst>
              <a:path extrusionOk="0" h="2863579" w="4076270">
                <a:moveTo>
                  <a:pt x="0" y="0"/>
                </a:moveTo>
                <a:lnTo>
                  <a:pt x="4076270" y="0"/>
                </a:lnTo>
                <a:lnTo>
                  <a:pt x="4076270" y="2863579"/>
                </a:lnTo>
                <a:lnTo>
                  <a:pt x="0" y="2863579"/>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3" name="Google Shape;123;p15"/>
          <p:cNvSpPr/>
          <p:nvPr/>
        </p:nvSpPr>
        <p:spPr>
          <a:xfrm>
            <a:off x="5003948" y="-1890601"/>
            <a:ext cx="2892762" cy="2919301"/>
          </a:xfrm>
          <a:custGeom>
            <a:rect b="b" l="l" r="r" t="t"/>
            <a:pathLst>
              <a:path extrusionOk="0" h="2919301" w="2892762">
                <a:moveTo>
                  <a:pt x="0" y="0"/>
                </a:moveTo>
                <a:lnTo>
                  <a:pt x="2892762" y="0"/>
                </a:lnTo>
                <a:lnTo>
                  <a:pt x="2892762" y="2919301"/>
                </a:lnTo>
                <a:lnTo>
                  <a:pt x="0" y="2919301"/>
                </a:lnTo>
                <a:lnTo>
                  <a:pt x="0" y="0"/>
                </a:lnTo>
                <a:close/>
              </a:path>
            </a:pathLst>
          </a:cu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4" name="Google Shape;124;p15"/>
          <p:cNvSpPr/>
          <p:nvPr/>
        </p:nvSpPr>
        <p:spPr>
          <a:xfrm rot="-5282649">
            <a:off x="16004285" y="265374"/>
            <a:ext cx="4017207" cy="1370872"/>
          </a:xfrm>
          <a:custGeom>
            <a:rect b="b" l="l" r="r" t="t"/>
            <a:pathLst>
              <a:path extrusionOk="0" h="1370872" w="4017207">
                <a:moveTo>
                  <a:pt x="0" y="0"/>
                </a:moveTo>
                <a:lnTo>
                  <a:pt x="4017207" y="0"/>
                </a:lnTo>
                <a:lnTo>
                  <a:pt x="4017207" y="1370872"/>
                </a:lnTo>
                <a:lnTo>
                  <a:pt x="0" y="1370872"/>
                </a:lnTo>
                <a:lnTo>
                  <a:pt x="0" y="0"/>
                </a:lnTo>
                <a:close/>
              </a:path>
            </a:pathLst>
          </a:custGeom>
          <a:blipFill rotWithShape="1">
            <a:blip r:embed="rId8">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16"/>
          <p:cNvSpPr/>
          <p:nvPr/>
        </p:nvSpPr>
        <p:spPr>
          <a:xfrm rot="-5400000">
            <a:off x="4000500" y="-4000500"/>
            <a:ext cx="10287000" cy="18288000"/>
          </a:xfrm>
          <a:custGeom>
            <a:rect b="b" l="l" r="r" t="t"/>
            <a:pathLst>
              <a:path extrusionOk="0" h="18288000" w="10287000">
                <a:moveTo>
                  <a:pt x="10287000" y="0"/>
                </a:moveTo>
                <a:lnTo>
                  <a:pt x="10287000" y="18288000"/>
                </a:lnTo>
                <a:lnTo>
                  <a:pt x="0" y="18288000"/>
                </a:lnTo>
                <a:lnTo>
                  <a:pt x="0" y="0"/>
                </a:lnTo>
                <a:lnTo>
                  <a:pt x="10287000" y="0"/>
                </a:lnTo>
                <a:close/>
              </a:path>
            </a:pathLst>
          </a:custGeom>
          <a:blipFill rotWithShape="1">
            <a:blip r:embed="rId3">
              <a:alphaModFix/>
            </a:blip>
            <a:stretch>
              <a:fillRect b="-2747" l="-71865" r="-74156" t="-363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130" name="Google Shape;130;p16"/>
          <p:cNvCxnSpPr/>
          <p:nvPr/>
        </p:nvCxnSpPr>
        <p:spPr>
          <a:xfrm>
            <a:off x="-886757" y="5074942"/>
            <a:ext cx="20061513" cy="0"/>
          </a:xfrm>
          <a:prstGeom prst="straightConnector1">
            <a:avLst/>
          </a:prstGeom>
          <a:noFill/>
          <a:ln cap="flat" cmpd="sng" w="28575">
            <a:solidFill>
              <a:srgbClr val="000000"/>
            </a:solidFill>
            <a:prstDash val="solid"/>
            <a:round/>
            <a:headEnd len="sm" w="sm" type="none"/>
            <a:tailEnd len="sm" w="sm" type="none"/>
          </a:ln>
        </p:spPr>
      </p:cxnSp>
      <p:grpSp>
        <p:nvGrpSpPr>
          <p:cNvPr id="131" name="Google Shape;131;p16"/>
          <p:cNvGrpSpPr/>
          <p:nvPr/>
        </p:nvGrpSpPr>
        <p:grpSpPr>
          <a:xfrm>
            <a:off x="8005638" y="4823914"/>
            <a:ext cx="502056" cy="502056"/>
            <a:chOff x="0" y="0"/>
            <a:chExt cx="812800" cy="812800"/>
          </a:xfrm>
        </p:grpSpPr>
        <p:sp>
          <p:nvSpPr>
            <p:cNvPr id="132" name="Google Shape;132;p16"/>
            <p:cNvSpPr/>
            <p:nvPr/>
          </p:nvSpPr>
          <p:spPr>
            <a:xfrm>
              <a:off x="0" y="0"/>
              <a:ext cx="812800" cy="812800"/>
            </a:xfrm>
            <a:custGeom>
              <a:rect b="b" l="l" r="r" t="t"/>
              <a:pathLst>
                <a:path extrusionOk="0"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3" name="Google Shape;133;p16"/>
            <p:cNvSpPr txBox="1"/>
            <p:nvPr/>
          </p:nvSpPr>
          <p:spPr>
            <a:xfrm>
              <a:off x="190500" y="219075"/>
              <a:ext cx="431800" cy="403225"/>
            </a:xfrm>
            <a:prstGeom prst="rect">
              <a:avLst/>
            </a:prstGeom>
            <a:noFill/>
            <a:ln>
              <a:noFill/>
            </a:ln>
          </p:spPr>
          <p:txBody>
            <a:bodyPr anchorCtr="0" anchor="ctr" bIns="50800" lIns="50800" spcFirstLastPara="1" rIns="50800" wrap="square" tIns="50800">
              <a:noAutofit/>
            </a:bodyPr>
            <a:lstStyle/>
            <a:p>
              <a:pPr indent="0" lvl="0" marL="0" marR="0" rtl="0" algn="ctr">
                <a:lnSpc>
                  <a:spcPct val="125888"/>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34" name="Google Shape;134;p16"/>
          <p:cNvGrpSpPr/>
          <p:nvPr/>
        </p:nvGrpSpPr>
        <p:grpSpPr>
          <a:xfrm>
            <a:off x="4864275" y="4823914"/>
            <a:ext cx="502056" cy="502056"/>
            <a:chOff x="0" y="0"/>
            <a:chExt cx="812800" cy="812800"/>
          </a:xfrm>
        </p:grpSpPr>
        <p:sp>
          <p:nvSpPr>
            <p:cNvPr id="135" name="Google Shape;135;p16"/>
            <p:cNvSpPr/>
            <p:nvPr/>
          </p:nvSpPr>
          <p:spPr>
            <a:xfrm>
              <a:off x="0" y="0"/>
              <a:ext cx="812800" cy="812800"/>
            </a:xfrm>
            <a:custGeom>
              <a:rect b="b" l="l" r="r" t="t"/>
              <a:pathLst>
                <a:path extrusionOk="0"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6" name="Google Shape;136;p16"/>
            <p:cNvSpPr txBox="1"/>
            <p:nvPr/>
          </p:nvSpPr>
          <p:spPr>
            <a:xfrm>
              <a:off x="190500" y="219075"/>
              <a:ext cx="431800" cy="403225"/>
            </a:xfrm>
            <a:prstGeom prst="rect">
              <a:avLst/>
            </a:prstGeom>
            <a:noFill/>
            <a:ln>
              <a:noFill/>
            </a:ln>
          </p:spPr>
          <p:txBody>
            <a:bodyPr anchorCtr="0" anchor="ctr" bIns="50800" lIns="50800" spcFirstLastPara="1" rIns="50800" wrap="square" tIns="50800">
              <a:noAutofit/>
            </a:bodyPr>
            <a:lstStyle/>
            <a:p>
              <a:pPr indent="0" lvl="0" marL="0" marR="0" rtl="0" algn="ctr">
                <a:lnSpc>
                  <a:spcPct val="125888"/>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37" name="Google Shape;137;p16"/>
          <p:cNvGrpSpPr/>
          <p:nvPr/>
        </p:nvGrpSpPr>
        <p:grpSpPr>
          <a:xfrm>
            <a:off x="11341685" y="4823914"/>
            <a:ext cx="502056" cy="502056"/>
            <a:chOff x="0" y="0"/>
            <a:chExt cx="812800" cy="812800"/>
          </a:xfrm>
        </p:grpSpPr>
        <p:sp>
          <p:nvSpPr>
            <p:cNvPr id="138" name="Google Shape;138;p16"/>
            <p:cNvSpPr/>
            <p:nvPr/>
          </p:nvSpPr>
          <p:spPr>
            <a:xfrm>
              <a:off x="0" y="0"/>
              <a:ext cx="812800" cy="812800"/>
            </a:xfrm>
            <a:custGeom>
              <a:rect b="b" l="l" r="r" t="t"/>
              <a:pathLst>
                <a:path extrusionOk="0"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9" name="Google Shape;139;p16"/>
            <p:cNvSpPr txBox="1"/>
            <p:nvPr/>
          </p:nvSpPr>
          <p:spPr>
            <a:xfrm>
              <a:off x="190500" y="219075"/>
              <a:ext cx="431800" cy="403225"/>
            </a:xfrm>
            <a:prstGeom prst="rect">
              <a:avLst/>
            </a:prstGeom>
            <a:noFill/>
            <a:ln>
              <a:noFill/>
            </a:ln>
          </p:spPr>
          <p:txBody>
            <a:bodyPr anchorCtr="0" anchor="ctr" bIns="50800" lIns="50800" spcFirstLastPara="1" rIns="50800" wrap="square" tIns="50800">
              <a:noAutofit/>
            </a:bodyPr>
            <a:lstStyle/>
            <a:p>
              <a:pPr indent="0" lvl="0" marL="0" marR="0" rtl="0" algn="ctr">
                <a:lnSpc>
                  <a:spcPct val="125888"/>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40" name="Google Shape;140;p16"/>
          <p:cNvGrpSpPr/>
          <p:nvPr/>
        </p:nvGrpSpPr>
        <p:grpSpPr>
          <a:xfrm>
            <a:off x="14486660" y="4817740"/>
            <a:ext cx="502056" cy="502056"/>
            <a:chOff x="0" y="0"/>
            <a:chExt cx="812800" cy="812800"/>
          </a:xfrm>
        </p:grpSpPr>
        <p:sp>
          <p:nvSpPr>
            <p:cNvPr id="141" name="Google Shape;141;p16"/>
            <p:cNvSpPr/>
            <p:nvPr/>
          </p:nvSpPr>
          <p:spPr>
            <a:xfrm>
              <a:off x="0" y="0"/>
              <a:ext cx="812800" cy="812800"/>
            </a:xfrm>
            <a:custGeom>
              <a:rect b="b" l="l" r="r" t="t"/>
              <a:pathLst>
                <a:path extrusionOk="0"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2" name="Google Shape;142;p16"/>
            <p:cNvSpPr txBox="1"/>
            <p:nvPr/>
          </p:nvSpPr>
          <p:spPr>
            <a:xfrm>
              <a:off x="190500" y="219075"/>
              <a:ext cx="431800" cy="403225"/>
            </a:xfrm>
            <a:prstGeom prst="rect">
              <a:avLst/>
            </a:prstGeom>
            <a:noFill/>
            <a:ln>
              <a:noFill/>
            </a:ln>
          </p:spPr>
          <p:txBody>
            <a:bodyPr anchorCtr="0" anchor="ctr" bIns="50800" lIns="50800" spcFirstLastPara="1" rIns="50800" wrap="square" tIns="50800">
              <a:noAutofit/>
            </a:bodyPr>
            <a:lstStyle/>
            <a:p>
              <a:pPr indent="0" lvl="0" marL="0" marR="0" rtl="0" algn="ctr">
                <a:lnSpc>
                  <a:spcPct val="125888"/>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43" name="Google Shape;143;p16"/>
          <p:cNvSpPr txBox="1"/>
          <p:nvPr/>
        </p:nvSpPr>
        <p:spPr>
          <a:xfrm>
            <a:off x="4732501" y="1907439"/>
            <a:ext cx="8822997" cy="1166538"/>
          </a:xfrm>
          <a:prstGeom prst="rect">
            <a:avLst/>
          </a:prstGeom>
          <a:noFill/>
          <a:ln>
            <a:noFill/>
          </a:ln>
        </p:spPr>
        <p:txBody>
          <a:bodyPr anchorCtr="0" anchor="t" bIns="0" lIns="0" spcFirstLastPara="1" rIns="0" wrap="square" tIns="0">
            <a:spAutoFit/>
          </a:bodyPr>
          <a:lstStyle/>
          <a:p>
            <a:pPr indent="0" lvl="1" marL="0" marR="0" rtl="0" algn="ctr">
              <a:lnSpc>
                <a:spcPct val="109124"/>
              </a:lnSpc>
              <a:spcBef>
                <a:spcPts val="0"/>
              </a:spcBef>
              <a:spcAft>
                <a:spcPts val="0"/>
              </a:spcAft>
              <a:buNone/>
            </a:pPr>
            <a:r>
              <a:rPr b="1" i="0" lang="en-US" sz="8000" u="none" cap="none" strike="noStrike">
                <a:solidFill>
                  <a:srgbClr val="000000"/>
                </a:solidFill>
                <a:latin typeface="DM Sans"/>
                <a:ea typeface="DM Sans"/>
                <a:cs typeface="DM Sans"/>
                <a:sym typeface="DM Sans"/>
              </a:rPr>
              <a:t>Project Pipeline</a:t>
            </a:r>
            <a:endParaRPr/>
          </a:p>
        </p:txBody>
      </p:sp>
      <p:sp>
        <p:nvSpPr>
          <p:cNvPr id="144" name="Google Shape;144;p16"/>
          <p:cNvSpPr txBox="1"/>
          <p:nvPr/>
        </p:nvSpPr>
        <p:spPr>
          <a:xfrm>
            <a:off x="1577573" y="5514979"/>
            <a:ext cx="2197323" cy="679451"/>
          </a:xfrm>
          <a:prstGeom prst="rect">
            <a:avLst/>
          </a:prstGeom>
          <a:noFill/>
          <a:ln>
            <a:noFill/>
          </a:ln>
        </p:spPr>
        <p:txBody>
          <a:bodyPr anchorCtr="0" anchor="t" bIns="0" lIns="0" spcFirstLastPara="1" rIns="0" wrap="square" tIns="0">
            <a:spAutoFit/>
          </a:bodyPr>
          <a:lstStyle/>
          <a:p>
            <a:pPr indent="0" lvl="0" marL="0" marR="0" rtl="0" algn="l">
              <a:lnSpc>
                <a:spcPct val="103000"/>
              </a:lnSpc>
              <a:spcBef>
                <a:spcPts val="0"/>
              </a:spcBef>
              <a:spcAft>
                <a:spcPts val="0"/>
              </a:spcAft>
              <a:buNone/>
            </a:pPr>
            <a:r>
              <a:rPr b="1" lang="en-US" sz="5000">
                <a:solidFill>
                  <a:srgbClr val="000000"/>
                </a:solidFill>
                <a:latin typeface="DM Sans"/>
                <a:ea typeface="DM Sans"/>
                <a:cs typeface="DM Sans"/>
                <a:sym typeface="DM Sans"/>
              </a:rPr>
              <a:t>01</a:t>
            </a:r>
            <a:endParaRPr/>
          </a:p>
        </p:txBody>
      </p:sp>
      <p:sp>
        <p:nvSpPr>
          <p:cNvPr id="145" name="Google Shape;145;p16"/>
          <p:cNvSpPr txBox="1"/>
          <p:nvPr/>
        </p:nvSpPr>
        <p:spPr>
          <a:xfrm>
            <a:off x="4761076" y="5517827"/>
            <a:ext cx="2197323" cy="679451"/>
          </a:xfrm>
          <a:prstGeom prst="rect">
            <a:avLst/>
          </a:prstGeom>
          <a:noFill/>
          <a:ln>
            <a:noFill/>
          </a:ln>
        </p:spPr>
        <p:txBody>
          <a:bodyPr anchorCtr="0" anchor="t" bIns="0" lIns="0" spcFirstLastPara="1" rIns="0" wrap="square" tIns="0">
            <a:spAutoFit/>
          </a:bodyPr>
          <a:lstStyle/>
          <a:p>
            <a:pPr indent="0" lvl="0" marL="0" marR="0" rtl="0" algn="l">
              <a:lnSpc>
                <a:spcPct val="103000"/>
              </a:lnSpc>
              <a:spcBef>
                <a:spcPts val="0"/>
              </a:spcBef>
              <a:spcAft>
                <a:spcPts val="0"/>
              </a:spcAft>
              <a:buNone/>
            </a:pPr>
            <a:r>
              <a:rPr b="1" lang="en-US" sz="5000">
                <a:solidFill>
                  <a:srgbClr val="000000"/>
                </a:solidFill>
                <a:latin typeface="DM Sans"/>
                <a:ea typeface="DM Sans"/>
                <a:cs typeface="DM Sans"/>
                <a:sym typeface="DM Sans"/>
              </a:rPr>
              <a:t>02</a:t>
            </a:r>
            <a:endParaRPr/>
          </a:p>
        </p:txBody>
      </p:sp>
      <p:sp>
        <p:nvSpPr>
          <p:cNvPr id="146" name="Google Shape;146;p16"/>
          <p:cNvSpPr txBox="1"/>
          <p:nvPr/>
        </p:nvSpPr>
        <p:spPr>
          <a:xfrm>
            <a:off x="7944579" y="5474248"/>
            <a:ext cx="2197323" cy="679451"/>
          </a:xfrm>
          <a:prstGeom prst="rect">
            <a:avLst/>
          </a:prstGeom>
          <a:noFill/>
          <a:ln>
            <a:noFill/>
          </a:ln>
        </p:spPr>
        <p:txBody>
          <a:bodyPr anchorCtr="0" anchor="t" bIns="0" lIns="0" spcFirstLastPara="1" rIns="0" wrap="square" tIns="0">
            <a:spAutoFit/>
          </a:bodyPr>
          <a:lstStyle/>
          <a:p>
            <a:pPr indent="0" lvl="0" marL="0" marR="0" rtl="0" algn="l">
              <a:lnSpc>
                <a:spcPct val="103000"/>
              </a:lnSpc>
              <a:spcBef>
                <a:spcPts val="0"/>
              </a:spcBef>
              <a:spcAft>
                <a:spcPts val="0"/>
              </a:spcAft>
              <a:buNone/>
            </a:pPr>
            <a:r>
              <a:rPr b="1" lang="en-US" sz="5000">
                <a:solidFill>
                  <a:srgbClr val="000000"/>
                </a:solidFill>
                <a:latin typeface="DM Sans"/>
                <a:ea typeface="DM Sans"/>
                <a:cs typeface="DM Sans"/>
                <a:sym typeface="DM Sans"/>
              </a:rPr>
              <a:t>03</a:t>
            </a:r>
            <a:endParaRPr/>
          </a:p>
        </p:txBody>
      </p:sp>
      <p:sp>
        <p:nvSpPr>
          <p:cNvPr id="147" name="Google Shape;147;p16"/>
          <p:cNvSpPr txBox="1"/>
          <p:nvPr/>
        </p:nvSpPr>
        <p:spPr>
          <a:xfrm>
            <a:off x="11128082" y="5459329"/>
            <a:ext cx="2197323" cy="679451"/>
          </a:xfrm>
          <a:prstGeom prst="rect">
            <a:avLst/>
          </a:prstGeom>
          <a:noFill/>
          <a:ln>
            <a:noFill/>
          </a:ln>
        </p:spPr>
        <p:txBody>
          <a:bodyPr anchorCtr="0" anchor="t" bIns="0" lIns="0" spcFirstLastPara="1" rIns="0" wrap="square" tIns="0">
            <a:spAutoFit/>
          </a:bodyPr>
          <a:lstStyle/>
          <a:p>
            <a:pPr indent="0" lvl="0" marL="0" marR="0" rtl="0" algn="l">
              <a:lnSpc>
                <a:spcPct val="103000"/>
              </a:lnSpc>
              <a:spcBef>
                <a:spcPts val="0"/>
              </a:spcBef>
              <a:spcAft>
                <a:spcPts val="0"/>
              </a:spcAft>
              <a:buNone/>
            </a:pPr>
            <a:r>
              <a:rPr b="1" lang="en-US" sz="5000">
                <a:solidFill>
                  <a:srgbClr val="000000"/>
                </a:solidFill>
                <a:latin typeface="DM Sans"/>
                <a:ea typeface="DM Sans"/>
                <a:cs typeface="DM Sans"/>
                <a:sym typeface="DM Sans"/>
              </a:rPr>
              <a:t>04</a:t>
            </a:r>
            <a:endParaRPr/>
          </a:p>
        </p:txBody>
      </p:sp>
      <p:sp>
        <p:nvSpPr>
          <p:cNvPr id="148" name="Google Shape;148;p16"/>
          <p:cNvSpPr/>
          <p:nvPr/>
        </p:nvSpPr>
        <p:spPr>
          <a:xfrm>
            <a:off x="-1573240" y="8893298"/>
            <a:ext cx="4051334" cy="2765036"/>
          </a:xfrm>
          <a:custGeom>
            <a:rect b="b" l="l" r="r" t="t"/>
            <a:pathLst>
              <a:path extrusionOk="0" h="2765036" w="4051334">
                <a:moveTo>
                  <a:pt x="0" y="0"/>
                </a:moveTo>
                <a:lnTo>
                  <a:pt x="4051334" y="0"/>
                </a:lnTo>
                <a:lnTo>
                  <a:pt x="4051334" y="2765036"/>
                </a:lnTo>
                <a:lnTo>
                  <a:pt x="0" y="2765036"/>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9" name="Google Shape;149;p16"/>
          <p:cNvSpPr/>
          <p:nvPr/>
        </p:nvSpPr>
        <p:spPr>
          <a:xfrm>
            <a:off x="15262955" y="8864586"/>
            <a:ext cx="4602314" cy="3618569"/>
          </a:xfrm>
          <a:custGeom>
            <a:rect b="b" l="l" r="r" t="t"/>
            <a:pathLst>
              <a:path extrusionOk="0" h="3618569" w="4602314">
                <a:moveTo>
                  <a:pt x="0" y="0"/>
                </a:moveTo>
                <a:lnTo>
                  <a:pt x="4602314" y="0"/>
                </a:lnTo>
                <a:lnTo>
                  <a:pt x="4602314" y="3618569"/>
                </a:lnTo>
                <a:lnTo>
                  <a:pt x="0" y="3618569"/>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0" name="Google Shape;150;p16"/>
          <p:cNvSpPr/>
          <p:nvPr/>
        </p:nvSpPr>
        <p:spPr>
          <a:xfrm>
            <a:off x="-674156" y="-1322787"/>
            <a:ext cx="4224468" cy="2645573"/>
          </a:xfrm>
          <a:custGeom>
            <a:rect b="b" l="l" r="r" t="t"/>
            <a:pathLst>
              <a:path extrusionOk="0" h="2645573" w="4224468">
                <a:moveTo>
                  <a:pt x="0" y="0"/>
                </a:moveTo>
                <a:lnTo>
                  <a:pt x="4224468" y="0"/>
                </a:lnTo>
                <a:lnTo>
                  <a:pt x="4224468" y="2645574"/>
                </a:lnTo>
                <a:lnTo>
                  <a:pt x="0" y="2645574"/>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1" name="Google Shape;151;p16"/>
          <p:cNvSpPr/>
          <p:nvPr/>
        </p:nvSpPr>
        <p:spPr>
          <a:xfrm>
            <a:off x="11101574" y="9560661"/>
            <a:ext cx="3169280" cy="2226419"/>
          </a:xfrm>
          <a:custGeom>
            <a:rect b="b" l="l" r="r" t="t"/>
            <a:pathLst>
              <a:path extrusionOk="0" h="2226419" w="3169280">
                <a:moveTo>
                  <a:pt x="0" y="0"/>
                </a:moveTo>
                <a:lnTo>
                  <a:pt x="3169280" y="0"/>
                </a:lnTo>
                <a:lnTo>
                  <a:pt x="3169280" y="2226419"/>
                </a:lnTo>
                <a:lnTo>
                  <a:pt x="0" y="2226419"/>
                </a:lnTo>
                <a:lnTo>
                  <a:pt x="0" y="0"/>
                </a:lnTo>
                <a:close/>
              </a:path>
            </a:pathLst>
          </a:cu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2" name="Google Shape;152;p16"/>
          <p:cNvSpPr/>
          <p:nvPr/>
        </p:nvSpPr>
        <p:spPr>
          <a:xfrm>
            <a:off x="9653627" y="-3037933"/>
            <a:ext cx="5493058" cy="4114800"/>
          </a:xfrm>
          <a:custGeom>
            <a:rect b="b" l="l" r="r" t="t"/>
            <a:pathLst>
              <a:path extrusionOk="0" h="4114800" w="5493058">
                <a:moveTo>
                  <a:pt x="0" y="0"/>
                </a:moveTo>
                <a:lnTo>
                  <a:pt x="5493058" y="0"/>
                </a:lnTo>
                <a:lnTo>
                  <a:pt x="5493058" y="4114800"/>
                </a:lnTo>
                <a:lnTo>
                  <a:pt x="0" y="4114800"/>
                </a:lnTo>
                <a:lnTo>
                  <a:pt x="0" y="0"/>
                </a:lnTo>
                <a:close/>
              </a:path>
            </a:pathLst>
          </a:custGeom>
          <a:blipFill rotWithShape="1">
            <a:blip r:embed="rId8">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3" name="Google Shape;153;p16"/>
          <p:cNvSpPr/>
          <p:nvPr/>
        </p:nvSpPr>
        <p:spPr>
          <a:xfrm rot="-5400000">
            <a:off x="4745771" y="-1877331"/>
            <a:ext cx="2892762" cy="2919301"/>
          </a:xfrm>
          <a:custGeom>
            <a:rect b="b" l="l" r="r" t="t"/>
            <a:pathLst>
              <a:path extrusionOk="0" h="2919301" w="2892762">
                <a:moveTo>
                  <a:pt x="0" y="0"/>
                </a:moveTo>
                <a:lnTo>
                  <a:pt x="2892761" y="0"/>
                </a:lnTo>
                <a:lnTo>
                  <a:pt x="2892761" y="2919301"/>
                </a:lnTo>
                <a:lnTo>
                  <a:pt x="0" y="2919301"/>
                </a:lnTo>
                <a:lnTo>
                  <a:pt x="0" y="0"/>
                </a:lnTo>
                <a:close/>
              </a:path>
            </a:pathLst>
          </a:custGeom>
          <a:blipFill rotWithShape="1">
            <a:blip r:embed="rId9">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4" name="Google Shape;154;p16"/>
          <p:cNvSpPr/>
          <p:nvPr/>
        </p:nvSpPr>
        <p:spPr>
          <a:xfrm>
            <a:off x="2932282" y="9271808"/>
            <a:ext cx="2587020" cy="2386526"/>
          </a:xfrm>
          <a:custGeom>
            <a:rect b="b" l="l" r="r" t="t"/>
            <a:pathLst>
              <a:path extrusionOk="0" h="2386526" w="2587020">
                <a:moveTo>
                  <a:pt x="0" y="0"/>
                </a:moveTo>
                <a:lnTo>
                  <a:pt x="2587020" y="0"/>
                </a:lnTo>
                <a:lnTo>
                  <a:pt x="2587020" y="2386526"/>
                </a:lnTo>
                <a:lnTo>
                  <a:pt x="0" y="2386526"/>
                </a:lnTo>
                <a:lnTo>
                  <a:pt x="0" y="0"/>
                </a:lnTo>
                <a:close/>
              </a:path>
            </a:pathLst>
          </a:custGeom>
          <a:blipFill rotWithShape="1">
            <a:blip r:embed="rId10">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5" name="Google Shape;155;p16"/>
          <p:cNvSpPr/>
          <p:nvPr/>
        </p:nvSpPr>
        <p:spPr>
          <a:xfrm>
            <a:off x="15262955" y="-1072630"/>
            <a:ext cx="1996345" cy="2149497"/>
          </a:xfrm>
          <a:custGeom>
            <a:rect b="b" l="l" r="r" t="t"/>
            <a:pathLst>
              <a:path extrusionOk="0" h="2149497" w="1996345">
                <a:moveTo>
                  <a:pt x="0" y="0"/>
                </a:moveTo>
                <a:lnTo>
                  <a:pt x="1996345" y="0"/>
                </a:lnTo>
                <a:lnTo>
                  <a:pt x="1996345" y="2149497"/>
                </a:lnTo>
                <a:lnTo>
                  <a:pt x="0" y="2149497"/>
                </a:lnTo>
                <a:lnTo>
                  <a:pt x="0" y="0"/>
                </a:lnTo>
                <a:close/>
              </a:path>
            </a:pathLst>
          </a:custGeom>
          <a:blipFill rotWithShape="1">
            <a:blip r:embed="rId11">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56" name="Google Shape;156;p16"/>
          <p:cNvGrpSpPr/>
          <p:nvPr/>
        </p:nvGrpSpPr>
        <p:grpSpPr>
          <a:xfrm>
            <a:off x="1605242" y="4838201"/>
            <a:ext cx="502056" cy="502056"/>
            <a:chOff x="0" y="0"/>
            <a:chExt cx="812800" cy="812800"/>
          </a:xfrm>
        </p:grpSpPr>
        <p:sp>
          <p:nvSpPr>
            <p:cNvPr id="157" name="Google Shape;157;p16"/>
            <p:cNvSpPr/>
            <p:nvPr/>
          </p:nvSpPr>
          <p:spPr>
            <a:xfrm>
              <a:off x="0" y="0"/>
              <a:ext cx="812800" cy="812800"/>
            </a:xfrm>
            <a:custGeom>
              <a:rect b="b" l="l" r="r" t="t"/>
              <a:pathLst>
                <a:path extrusionOk="0"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8" name="Google Shape;158;p16"/>
            <p:cNvSpPr txBox="1"/>
            <p:nvPr/>
          </p:nvSpPr>
          <p:spPr>
            <a:xfrm>
              <a:off x="190500" y="219075"/>
              <a:ext cx="431800" cy="403225"/>
            </a:xfrm>
            <a:prstGeom prst="rect">
              <a:avLst/>
            </a:prstGeom>
            <a:noFill/>
            <a:ln>
              <a:noFill/>
            </a:ln>
          </p:spPr>
          <p:txBody>
            <a:bodyPr anchorCtr="0" anchor="ctr" bIns="50800" lIns="50800" spcFirstLastPara="1" rIns="50800" wrap="square" tIns="50800">
              <a:noAutofit/>
            </a:bodyPr>
            <a:lstStyle/>
            <a:p>
              <a:pPr indent="0" lvl="0" marL="0" marR="0" rtl="0" algn="ctr">
                <a:lnSpc>
                  <a:spcPct val="125888"/>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59" name="Google Shape;159;p16"/>
          <p:cNvSpPr txBox="1"/>
          <p:nvPr/>
        </p:nvSpPr>
        <p:spPr>
          <a:xfrm>
            <a:off x="14340939" y="5468122"/>
            <a:ext cx="2197323" cy="679451"/>
          </a:xfrm>
          <a:prstGeom prst="rect">
            <a:avLst/>
          </a:prstGeom>
          <a:noFill/>
          <a:ln>
            <a:noFill/>
          </a:ln>
        </p:spPr>
        <p:txBody>
          <a:bodyPr anchorCtr="0" anchor="t" bIns="0" lIns="0" spcFirstLastPara="1" rIns="0" wrap="square" tIns="0">
            <a:spAutoFit/>
          </a:bodyPr>
          <a:lstStyle/>
          <a:p>
            <a:pPr indent="0" lvl="0" marL="0" marR="0" rtl="0" algn="l">
              <a:lnSpc>
                <a:spcPct val="103000"/>
              </a:lnSpc>
              <a:spcBef>
                <a:spcPts val="0"/>
              </a:spcBef>
              <a:spcAft>
                <a:spcPts val="0"/>
              </a:spcAft>
              <a:buNone/>
            </a:pPr>
            <a:r>
              <a:rPr b="1" lang="en-US" sz="5000">
                <a:solidFill>
                  <a:srgbClr val="000000"/>
                </a:solidFill>
                <a:latin typeface="DM Sans"/>
                <a:ea typeface="DM Sans"/>
                <a:cs typeface="DM Sans"/>
                <a:sym typeface="DM Sans"/>
              </a:rPr>
              <a:t>05</a:t>
            </a:r>
            <a:endParaRPr/>
          </a:p>
        </p:txBody>
      </p:sp>
      <p:sp>
        <p:nvSpPr>
          <p:cNvPr id="160" name="Google Shape;160;p16"/>
          <p:cNvSpPr txBox="1"/>
          <p:nvPr/>
        </p:nvSpPr>
        <p:spPr>
          <a:xfrm>
            <a:off x="1035593" y="6134928"/>
            <a:ext cx="2936696" cy="608115"/>
          </a:xfrm>
          <a:prstGeom prst="rect">
            <a:avLst/>
          </a:prstGeom>
          <a:noFill/>
          <a:ln>
            <a:noFill/>
          </a:ln>
        </p:spPr>
        <p:txBody>
          <a:bodyPr anchorCtr="0" anchor="t" bIns="0" lIns="0" spcFirstLastPara="1" rIns="0" wrap="square" tIns="0">
            <a:spAutoFit/>
          </a:bodyPr>
          <a:lstStyle/>
          <a:p>
            <a:pPr indent="0" lvl="0" marL="0" marR="0" rtl="0" algn="l">
              <a:lnSpc>
                <a:spcPct val="171666"/>
              </a:lnSpc>
              <a:spcBef>
                <a:spcPts val="0"/>
              </a:spcBef>
              <a:spcAft>
                <a:spcPts val="0"/>
              </a:spcAft>
              <a:buNone/>
            </a:pPr>
            <a:r>
              <a:rPr lang="en-US" sz="3000">
                <a:solidFill>
                  <a:schemeClr val="dk1"/>
                </a:solidFill>
                <a:latin typeface="Calibri"/>
                <a:ea typeface="Calibri"/>
                <a:cs typeface="Calibri"/>
                <a:sym typeface="Calibri"/>
              </a:rPr>
              <a:t>Data Cleaning</a:t>
            </a:r>
            <a:endParaRPr b="1" sz="3000">
              <a:solidFill>
                <a:srgbClr val="000000"/>
              </a:solidFill>
              <a:latin typeface="DM Sans"/>
              <a:ea typeface="DM Sans"/>
              <a:cs typeface="DM Sans"/>
              <a:sym typeface="DM Sans"/>
            </a:endParaRPr>
          </a:p>
        </p:txBody>
      </p:sp>
      <p:sp>
        <p:nvSpPr>
          <p:cNvPr id="161" name="Google Shape;161;p16"/>
          <p:cNvSpPr txBox="1"/>
          <p:nvPr/>
        </p:nvSpPr>
        <p:spPr>
          <a:xfrm>
            <a:off x="7080548" y="6129898"/>
            <a:ext cx="3183584" cy="608115"/>
          </a:xfrm>
          <a:prstGeom prst="rect">
            <a:avLst/>
          </a:prstGeom>
          <a:noFill/>
          <a:ln>
            <a:noFill/>
          </a:ln>
        </p:spPr>
        <p:txBody>
          <a:bodyPr anchorCtr="0" anchor="t" bIns="0" lIns="0" spcFirstLastPara="1" rIns="0" wrap="square" tIns="0">
            <a:spAutoFit/>
          </a:bodyPr>
          <a:lstStyle/>
          <a:p>
            <a:pPr indent="0" lvl="0" marL="0" marR="0" rtl="0" algn="l">
              <a:lnSpc>
                <a:spcPct val="171666"/>
              </a:lnSpc>
              <a:spcBef>
                <a:spcPts val="0"/>
              </a:spcBef>
              <a:spcAft>
                <a:spcPts val="0"/>
              </a:spcAft>
              <a:buNone/>
            </a:pPr>
            <a:r>
              <a:rPr lang="en-US" sz="3000">
                <a:solidFill>
                  <a:schemeClr val="dk1"/>
                </a:solidFill>
                <a:latin typeface="Calibri"/>
                <a:ea typeface="Calibri"/>
                <a:cs typeface="Calibri"/>
                <a:sym typeface="Calibri"/>
              </a:rPr>
              <a:t>Data preprocessing</a:t>
            </a:r>
            <a:endParaRPr b="1" sz="3000">
              <a:solidFill>
                <a:srgbClr val="000000"/>
              </a:solidFill>
              <a:latin typeface="DM Sans"/>
              <a:ea typeface="DM Sans"/>
              <a:cs typeface="DM Sans"/>
              <a:sym typeface="DM Sans"/>
            </a:endParaRPr>
          </a:p>
        </p:txBody>
      </p:sp>
      <p:sp>
        <p:nvSpPr>
          <p:cNvPr id="162" name="Google Shape;162;p16"/>
          <p:cNvSpPr txBox="1"/>
          <p:nvPr/>
        </p:nvSpPr>
        <p:spPr>
          <a:xfrm>
            <a:off x="3927049" y="6177192"/>
            <a:ext cx="3183584" cy="626069"/>
          </a:xfrm>
          <a:prstGeom prst="rect">
            <a:avLst/>
          </a:prstGeom>
          <a:noFill/>
          <a:ln>
            <a:noFill/>
          </a:ln>
        </p:spPr>
        <p:txBody>
          <a:bodyPr anchorCtr="0" anchor="t" bIns="0" lIns="0" spcFirstLastPara="1" rIns="0" wrap="square" tIns="0">
            <a:spAutoFit/>
          </a:bodyPr>
          <a:lstStyle/>
          <a:p>
            <a:pPr indent="0" lvl="0" marL="0" marR="0" rtl="0" algn="l">
              <a:lnSpc>
                <a:spcPct val="171666"/>
              </a:lnSpc>
              <a:spcBef>
                <a:spcPts val="0"/>
              </a:spcBef>
              <a:spcAft>
                <a:spcPts val="0"/>
              </a:spcAft>
              <a:buNone/>
            </a:pPr>
            <a:r>
              <a:rPr lang="en-US" sz="3000">
                <a:solidFill>
                  <a:schemeClr val="dk1"/>
                </a:solidFill>
                <a:latin typeface="Calibri"/>
                <a:ea typeface="Calibri"/>
                <a:cs typeface="Calibri"/>
                <a:sym typeface="Calibri"/>
              </a:rPr>
              <a:t>Data Exploration</a:t>
            </a:r>
            <a:endParaRPr b="1" sz="3000">
              <a:solidFill>
                <a:srgbClr val="000000"/>
              </a:solidFill>
              <a:latin typeface="DM Sans"/>
              <a:ea typeface="DM Sans"/>
              <a:cs typeface="DM Sans"/>
              <a:sym typeface="DM Sans"/>
            </a:endParaRPr>
          </a:p>
        </p:txBody>
      </p:sp>
      <p:sp>
        <p:nvSpPr>
          <p:cNvPr id="163" name="Google Shape;163;p16"/>
          <p:cNvSpPr txBox="1"/>
          <p:nvPr/>
        </p:nvSpPr>
        <p:spPr>
          <a:xfrm>
            <a:off x="11067166" y="6151843"/>
            <a:ext cx="2936696" cy="608115"/>
          </a:xfrm>
          <a:prstGeom prst="rect">
            <a:avLst/>
          </a:prstGeom>
          <a:noFill/>
          <a:ln>
            <a:noFill/>
          </a:ln>
        </p:spPr>
        <p:txBody>
          <a:bodyPr anchorCtr="0" anchor="t" bIns="0" lIns="0" spcFirstLastPara="1" rIns="0" wrap="square" tIns="0">
            <a:spAutoFit/>
          </a:bodyPr>
          <a:lstStyle/>
          <a:p>
            <a:pPr indent="0" lvl="0" marL="0" marR="0" rtl="0" algn="l">
              <a:lnSpc>
                <a:spcPct val="171666"/>
              </a:lnSpc>
              <a:spcBef>
                <a:spcPts val="0"/>
              </a:spcBef>
              <a:spcAft>
                <a:spcPts val="0"/>
              </a:spcAft>
              <a:buNone/>
            </a:pPr>
            <a:r>
              <a:rPr lang="en-US" sz="3000">
                <a:solidFill>
                  <a:schemeClr val="dk1"/>
                </a:solidFill>
                <a:latin typeface="Calibri"/>
                <a:ea typeface="Calibri"/>
                <a:cs typeface="Calibri"/>
                <a:sym typeface="Calibri"/>
              </a:rPr>
              <a:t>Models</a:t>
            </a:r>
            <a:endParaRPr b="1" sz="3000">
              <a:solidFill>
                <a:srgbClr val="000000"/>
              </a:solidFill>
              <a:latin typeface="DM Sans"/>
              <a:ea typeface="DM Sans"/>
              <a:cs typeface="DM Sans"/>
              <a:sym typeface="DM Sans"/>
            </a:endParaRPr>
          </a:p>
        </p:txBody>
      </p:sp>
      <p:sp>
        <p:nvSpPr>
          <p:cNvPr id="164" name="Google Shape;164;p16"/>
          <p:cNvSpPr txBox="1"/>
          <p:nvPr/>
        </p:nvSpPr>
        <p:spPr>
          <a:xfrm>
            <a:off x="13678337" y="6135121"/>
            <a:ext cx="2936696" cy="608115"/>
          </a:xfrm>
          <a:prstGeom prst="rect">
            <a:avLst/>
          </a:prstGeom>
          <a:noFill/>
          <a:ln>
            <a:noFill/>
          </a:ln>
        </p:spPr>
        <p:txBody>
          <a:bodyPr anchorCtr="0" anchor="t" bIns="0" lIns="0" spcFirstLastPara="1" rIns="0" wrap="square" tIns="0">
            <a:spAutoFit/>
          </a:bodyPr>
          <a:lstStyle/>
          <a:p>
            <a:pPr indent="0" lvl="0" marL="0" marR="0" rtl="0" algn="l">
              <a:lnSpc>
                <a:spcPct val="171666"/>
              </a:lnSpc>
              <a:spcBef>
                <a:spcPts val="0"/>
              </a:spcBef>
              <a:spcAft>
                <a:spcPts val="0"/>
              </a:spcAft>
              <a:buNone/>
            </a:pPr>
            <a:r>
              <a:rPr lang="en-US" sz="3000">
                <a:solidFill>
                  <a:schemeClr val="dk1"/>
                </a:solidFill>
                <a:latin typeface="Calibri"/>
                <a:ea typeface="Calibri"/>
                <a:cs typeface="Calibri"/>
                <a:sym typeface="Calibri"/>
              </a:rPr>
              <a:t>Association Rules </a:t>
            </a:r>
            <a:endParaRPr b="1" sz="3000">
              <a:solidFill>
                <a:srgbClr val="000000"/>
              </a:solidFill>
              <a:latin typeface="DM Sans"/>
              <a:ea typeface="DM Sans"/>
              <a:cs typeface="DM Sans"/>
              <a:sym typeface="DM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7"/>
          <p:cNvSpPr/>
          <p:nvPr/>
        </p:nvSpPr>
        <p:spPr>
          <a:xfrm rot="-5400000">
            <a:off x="4000500" y="-4000500"/>
            <a:ext cx="10287000" cy="18288000"/>
          </a:xfrm>
          <a:custGeom>
            <a:rect b="b" l="l" r="r" t="t"/>
            <a:pathLst>
              <a:path extrusionOk="0" h="18288000" w="10287000">
                <a:moveTo>
                  <a:pt x="10287000" y="0"/>
                </a:moveTo>
                <a:lnTo>
                  <a:pt x="10287000" y="18288000"/>
                </a:lnTo>
                <a:lnTo>
                  <a:pt x="0" y="18288000"/>
                </a:lnTo>
                <a:lnTo>
                  <a:pt x="0" y="0"/>
                </a:lnTo>
                <a:lnTo>
                  <a:pt x="10287000" y="0"/>
                </a:lnTo>
                <a:close/>
              </a:path>
            </a:pathLst>
          </a:custGeom>
          <a:blipFill rotWithShape="1">
            <a:blip r:embed="rId3">
              <a:alphaModFix/>
            </a:blip>
            <a:stretch>
              <a:fillRect b="-2747" l="-71865" r="-74156" t="-363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0" name="Google Shape;170;p17"/>
          <p:cNvSpPr txBox="1"/>
          <p:nvPr/>
        </p:nvSpPr>
        <p:spPr>
          <a:xfrm>
            <a:off x="1504950" y="2566521"/>
            <a:ext cx="7639050" cy="1056636"/>
          </a:xfrm>
          <a:prstGeom prst="rect">
            <a:avLst/>
          </a:prstGeom>
          <a:noFill/>
          <a:ln>
            <a:noFill/>
          </a:ln>
        </p:spPr>
        <p:txBody>
          <a:bodyPr anchorCtr="0" anchor="t" bIns="0" lIns="0" spcFirstLastPara="1" rIns="0" wrap="square" tIns="0">
            <a:spAutoFit/>
          </a:bodyPr>
          <a:lstStyle/>
          <a:p>
            <a:pPr indent="0" lvl="0" marL="0" marR="0" rtl="0" algn="l">
              <a:lnSpc>
                <a:spcPct val="145500"/>
              </a:lnSpc>
              <a:spcBef>
                <a:spcPts val="0"/>
              </a:spcBef>
              <a:spcAft>
                <a:spcPts val="0"/>
              </a:spcAft>
              <a:buNone/>
            </a:pPr>
            <a:r>
              <a:rPr b="1" lang="en-US" sz="6000">
                <a:solidFill>
                  <a:srgbClr val="000000"/>
                </a:solidFill>
                <a:latin typeface="DM Sans"/>
                <a:ea typeface="DM Sans"/>
                <a:cs typeface="DM Sans"/>
                <a:sym typeface="DM Sans"/>
              </a:rPr>
              <a:t>Data Preprocessing</a:t>
            </a:r>
            <a:endParaRPr/>
          </a:p>
        </p:txBody>
      </p:sp>
      <p:grpSp>
        <p:nvGrpSpPr>
          <p:cNvPr id="171" name="Google Shape;171;p17"/>
          <p:cNvGrpSpPr/>
          <p:nvPr/>
        </p:nvGrpSpPr>
        <p:grpSpPr>
          <a:xfrm>
            <a:off x="9975489" y="1170261"/>
            <a:ext cx="6998061" cy="2561528"/>
            <a:chOff x="0" y="0"/>
            <a:chExt cx="2342659" cy="857492"/>
          </a:xfrm>
        </p:grpSpPr>
        <p:sp>
          <p:nvSpPr>
            <p:cNvPr id="172" name="Google Shape;172;p17"/>
            <p:cNvSpPr/>
            <p:nvPr/>
          </p:nvSpPr>
          <p:spPr>
            <a:xfrm>
              <a:off x="0" y="0"/>
              <a:ext cx="2342659" cy="857492"/>
            </a:xfrm>
            <a:custGeom>
              <a:rect b="b" l="l" r="r" t="t"/>
              <a:pathLst>
                <a:path extrusionOk="0" h="857492" w="2342659">
                  <a:moveTo>
                    <a:pt x="16594" y="0"/>
                  </a:moveTo>
                  <a:lnTo>
                    <a:pt x="2326064" y="0"/>
                  </a:lnTo>
                  <a:cubicBezTo>
                    <a:pt x="2335229" y="0"/>
                    <a:pt x="2342659" y="7430"/>
                    <a:pt x="2342659" y="16594"/>
                  </a:cubicBezTo>
                  <a:lnTo>
                    <a:pt x="2342659" y="840898"/>
                  </a:lnTo>
                  <a:cubicBezTo>
                    <a:pt x="2342659" y="845299"/>
                    <a:pt x="2340910" y="849520"/>
                    <a:pt x="2337798" y="852632"/>
                  </a:cubicBezTo>
                  <a:cubicBezTo>
                    <a:pt x="2334686" y="855744"/>
                    <a:pt x="2330465" y="857492"/>
                    <a:pt x="2326064" y="857492"/>
                  </a:cubicBezTo>
                  <a:lnTo>
                    <a:pt x="16594" y="857492"/>
                  </a:lnTo>
                  <a:cubicBezTo>
                    <a:pt x="7430" y="857492"/>
                    <a:pt x="0" y="850063"/>
                    <a:pt x="0" y="840898"/>
                  </a:cubicBezTo>
                  <a:lnTo>
                    <a:pt x="0" y="16594"/>
                  </a:lnTo>
                  <a:cubicBezTo>
                    <a:pt x="0" y="7430"/>
                    <a:pt x="7430" y="0"/>
                    <a:pt x="16594" y="0"/>
                  </a:cubicBezTo>
                  <a:close/>
                </a:path>
              </a:pathLst>
            </a:custGeom>
            <a:solidFill>
              <a:srgbClr val="8AB7E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3" name="Google Shape;173;p17"/>
            <p:cNvSpPr txBox="1"/>
            <p:nvPr/>
          </p:nvSpPr>
          <p:spPr>
            <a:xfrm>
              <a:off x="0" y="85725"/>
              <a:ext cx="2342659" cy="771767"/>
            </a:xfrm>
            <a:prstGeom prst="rect">
              <a:avLst/>
            </a:prstGeom>
            <a:noFill/>
            <a:ln>
              <a:noFill/>
            </a:ln>
          </p:spPr>
          <p:txBody>
            <a:bodyPr anchorCtr="0" anchor="ctr" bIns="50800" lIns="50800" spcFirstLastPara="1" rIns="50800" wrap="square" tIns="50800">
              <a:noAutofit/>
            </a:bodyPr>
            <a:lstStyle/>
            <a:p>
              <a:pPr indent="0" lvl="0" marL="0" marR="0" rtl="0" algn="ctr">
                <a:lnSpc>
                  <a:spcPct val="106944"/>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74" name="Google Shape;174;p17"/>
          <p:cNvSpPr txBox="1"/>
          <p:nvPr/>
        </p:nvSpPr>
        <p:spPr>
          <a:xfrm>
            <a:off x="10491672" y="2024301"/>
            <a:ext cx="1578952" cy="1034423"/>
          </a:xfrm>
          <a:prstGeom prst="rect">
            <a:avLst/>
          </a:prstGeom>
          <a:noFill/>
          <a:ln>
            <a:noFill/>
          </a:ln>
        </p:spPr>
        <p:txBody>
          <a:bodyPr anchorCtr="0" anchor="t" bIns="0" lIns="0" spcFirstLastPara="1" rIns="0" wrap="square" tIns="0">
            <a:spAutoFit/>
          </a:bodyPr>
          <a:lstStyle/>
          <a:p>
            <a:pPr indent="0" lvl="0" marL="0" marR="0" rtl="0" algn="l">
              <a:lnSpc>
                <a:spcPct val="96000"/>
              </a:lnSpc>
              <a:spcBef>
                <a:spcPts val="0"/>
              </a:spcBef>
              <a:spcAft>
                <a:spcPts val="0"/>
              </a:spcAft>
              <a:buNone/>
            </a:pPr>
            <a:r>
              <a:rPr lang="en-US" sz="8000">
                <a:solidFill>
                  <a:srgbClr val="000000"/>
                </a:solidFill>
                <a:latin typeface="DM Sans"/>
                <a:ea typeface="DM Sans"/>
                <a:cs typeface="DM Sans"/>
                <a:sym typeface="DM Sans"/>
              </a:rPr>
              <a:t>01.</a:t>
            </a:r>
            <a:endParaRPr/>
          </a:p>
        </p:txBody>
      </p:sp>
      <p:grpSp>
        <p:nvGrpSpPr>
          <p:cNvPr id="175" name="Google Shape;175;p17"/>
          <p:cNvGrpSpPr/>
          <p:nvPr/>
        </p:nvGrpSpPr>
        <p:grpSpPr>
          <a:xfrm>
            <a:off x="9975489" y="3862348"/>
            <a:ext cx="6998061" cy="2561528"/>
            <a:chOff x="0" y="0"/>
            <a:chExt cx="2342659" cy="857492"/>
          </a:xfrm>
        </p:grpSpPr>
        <p:sp>
          <p:nvSpPr>
            <p:cNvPr id="176" name="Google Shape;176;p17"/>
            <p:cNvSpPr/>
            <p:nvPr/>
          </p:nvSpPr>
          <p:spPr>
            <a:xfrm>
              <a:off x="0" y="0"/>
              <a:ext cx="2342659" cy="857492"/>
            </a:xfrm>
            <a:custGeom>
              <a:rect b="b" l="l" r="r" t="t"/>
              <a:pathLst>
                <a:path extrusionOk="0" h="857492" w="2342659">
                  <a:moveTo>
                    <a:pt x="16594" y="0"/>
                  </a:moveTo>
                  <a:lnTo>
                    <a:pt x="2326064" y="0"/>
                  </a:lnTo>
                  <a:cubicBezTo>
                    <a:pt x="2335229" y="0"/>
                    <a:pt x="2342659" y="7430"/>
                    <a:pt x="2342659" y="16594"/>
                  </a:cubicBezTo>
                  <a:lnTo>
                    <a:pt x="2342659" y="840898"/>
                  </a:lnTo>
                  <a:cubicBezTo>
                    <a:pt x="2342659" y="845299"/>
                    <a:pt x="2340910" y="849520"/>
                    <a:pt x="2337798" y="852632"/>
                  </a:cubicBezTo>
                  <a:cubicBezTo>
                    <a:pt x="2334686" y="855744"/>
                    <a:pt x="2330465" y="857492"/>
                    <a:pt x="2326064" y="857492"/>
                  </a:cubicBezTo>
                  <a:lnTo>
                    <a:pt x="16594" y="857492"/>
                  </a:lnTo>
                  <a:cubicBezTo>
                    <a:pt x="7430" y="857492"/>
                    <a:pt x="0" y="850063"/>
                    <a:pt x="0" y="840898"/>
                  </a:cubicBezTo>
                  <a:lnTo>
                    <a:pt x="0" y="16594"/>
                  </a:lnTo>
                  <a:cubicBezTo>
                    <a:pt x="0" y="7430"/>
                    <a:pt x="7430" y="0"/>
                    <a:pt x="16594" y="0"/>
                  </a:cubicBezTo>
                  <a:close/>
                </a:path>
              </a:pathLst>
            </a:custGeom>
            <a:solidFill>
              <a:srgbClr val="8AB7E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7" name="Google Shape;177;p17"/>
            <p:cNvSpPr txBox="1"/>
            <p:nvPr/>
          </p:nvSpPr>
          <p:spPr>
            <a:xfrm>
              <a:off x="0" y="85725"/>
              <a:ext cx="2342659" cy="771767"/>
            </a:xfrm>
            <a:prstGeom prst="rect">
              <a:avLst/>
            </a:prstGeom>
            <a:noFill/>
            <a:ln>
              <a:noFill/>
            </a:ln>
          </p:spPr>
          <p:txBody>
            <a:bodyPr anchorCtr="0" anchor="ctr" bIns="50800" lIns="50800" spcFirstLastPara="1" rIns="50800" wrap="square" tIns="50800">
              <a:noAutofit/>
            </a:bodyPr>
            <a:lstStyle/>
            <a:p>
              <a:pPr indent="0" lvl="0" marL="0" marR="0" rtl="0" algn="ctr">
                <a:lnSpc>
                  <a:spcPct val="106944"/>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78" name="Google Shape;178;p17"/>
          <p:cNvGrpSpPr/>
          <p:nvPr/>
        </p:nvGrpSpPr>
        <p:grpSpPr>
          <a:xfrm>
            <a:off x="9975489" y="6557226"/>
            <a:ext cx="6998061" cy="2561528"/>
            <a:chOff x="0" y="0"/>
            <a:chExt cx="2342659" cy="857492"/>
          </a:xfrm>
        </p:grpSpPr>
        <p:sp>
          <p:nvSpPr>
            <p:cNvPr id="179" name="Google Shape;179;p17"/>
            <p:cNvSpPr/>
            <p:nvPr/>
          </p:nvSpPr>
          <p:spPr>
            <a:xfrm>
              <a:off x="0" y="0"/>
              <a:ext cx="2342659" cy="857492"/>
            </a:xfrm>
            <a:custGeom>
              <a:rect b="b" l="l" r="r" t="t"/>
              <a:pathLst>
                <a:path extrusionOk="0" h="857492" w="2342659">
                  <a:moveTo>
                    <a:pt x="16594" y="0"/>
                  </a:moveTo>
                  <a:lnTo>
                    <a:pt x="2326064" y="0"/>
                  </a:lnTo>
                  <a:cubicBezTo>
                    <a:pt x="2335229" y="0"/>
                    <a:pt x="2342659" y="7430"/>
                    <a:pt x="2342659" y="16594"/>
                  </a:cubicBezTo>
                  <a:lnTo>
                    <a:pt x="2342659" y="840898"/>
                  </a:lnTo>
                  <a:cubicBezTo>
                    <a:pt x="2342659" y="845299"/>
                    <a:pt x="2340910" y="849520"/>
                    <a:pt x="2337798" y="852632"/>
                  </a:cubicBezTo>
                  <a:cubicBezTo>
                    <a:pt x="2334686" y="855744"/>
                    <a:pt x="2330465" y="857492"/>
                    <a:pt x="2326064" y="857492"/>
                  </a:cubicBezTo>
                  <a:lnTo>
                    <a:pt x="16594" y="857492"/>
                  </a:lnTo>
                  <a:cubicBezTo>
                    <a:pt x="7430" y="857492"/>
                    <a:pt x="0" y="850063"/>
                    <a:pt x="0" y="840898"/>
                  </a:cubicBezTo>
                  <a:lnTo>
                    <a:pt x="0" y="16594"/>
                  </a:lnTo>
                  <a:cubicBezTo>
                    <a:pt x="0" y="7430"/>
                    <a:pt x="7430" y="0"/>
                    <a:pt x="16594" y="0"/>
                  </a:cubicBezTo>
                  <a:close/>
                </a:path>
              </a:pathLst>
            </a:custGeom>
            <a:solidFill>
              <a:srgbClr val="8AB7E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0" name="Google Shape;180;p17"/>
            <p:cNvSpPr txBox="1"/>
            <p:nvPr/>
          </p:nvSpPr>
          <p:spPr>
            <a:xfrm>
              <a:off x="0" y="85725"/>
              <a:ext cx="2342659" cy="771767"/>
            </a:xfrm>
            <a:prstGeom prst="rect">
              <a:avLst/>
            </a:prstGeom>
            <a:noFill/>
            <a:ln>
              <a:noFill/>
            </a:ln>
          </p:spPr>
          <p:txBody>
            <a:bodyPr anchorCtr="0" anchor="ctr" bIns="50800" lIns="50800" spcFirstLastPara="1" rIns="50800" wrap="square" tIns="50800">
              <a:noAutofit/>
            </a:bodyPr>
            <a:lstStyle/>
            <a:p>
              <a:pPr indent="0" lvl="0" marL="0" marR="0" rtl="0" algn="ctr">
                <a:lnSpc>
                  <a:spcPct val="106944"/>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81" name="Google Shape;181;p17"/>
          <p:cNvSpPr txBox="1"/>
          <p:nvPr/>
        </p:nvSpPr>
        <p:spPr>
          <a:xfrm>
            <a:off x="10491672" y="4717783"/>
            <a:ext cx="1578952" cy="1034423"/>
          </a:xfrm>
          <a:prstGeom prst="rect">
            <a:avLst/>
          </a:prstGeom>
          <a:noFill/>
          <a:ln>
            <a:noFill/>
          </a:ln>
        </p:spPr>
        <p:txBody>
          <a:bodyPr anchorCtr="0" anchor="t" bIns="0" lIns="0" spcFirstLastPara="1" rIns="0" wrap="square" tIns="0">
            <a:spAutoFit/>
          </a:bodyPr>
          <a:lstStyle/>
          <a:p>
            <a:pPr indent="0" lvl="0" marL="0" marR="0" rtl="0" algn="l">
              <a:lnSpc>
                <a:spcPct val="96000"/>
              </a:lnSpc>
              <a:spcBef>
                <a:spcPts val="0"/>
              </a:spcBef>
              <a:spcAft>
                <a:spcPts val="0"/>
              </a:spcAft>
              <a:buNone/>
            </a:pPr>
            <a:r>
              <a:rPr lang="en-US" sz="8000">
                <a:solidFill>
                  <a:srgbClr val="000000"/>
                </a:solidFill>
                <a:latin typeface="DM Sans"/>
                <a:ea typeface="DM Sans"/>
                <a:cs typeface="DM Sans"/>
                <a:sym typeface="DM Sans"/>
              </a:rPr>
              <a:t>02.</a:t>
            </a:r>
            <a:endParaRPr/>
          </a:p>
        </p:txBody>
      </p:sp>
      <p:sp>
        <p:nvSpPr>
          <p:cNvPr id="182" name="Google Shape;182;p17"/>
          <p:cNvSpPr txBox="1"/>
          <p:nvPr/>
        </p:nvSpPr>
        <p:spPr>
          <a:xfrm>
            <a:off x="10491672" y="7411266"/>
            <a:ext cx="1578952" cy="1034423"/>
          </a:xfrm>
          <a:prstGeom prst="rect">
            <a:avLst/>
          </a:prstGeom>
          <a:noFill/>
          <a:ln>
            <a:noFill/>
          </a:ln>
        </p:spPr>
        <p:txBody>
          <a:bodyPr anchorCtr="0" anchor="t" bIns="0" lIns="0" spcFirstLastPara="1" rIns="0" wrap="square" tIns="0">
            <a:spAutoFit/>
          </a:bodyPr>
          <a:lstStyle/>
          <a:p>
            <a:pPr indent="0" lvl="0" marL="0" marR="0" rtl="0" algn="l">
              <a:lnSpc>
                <a:spcPct val="96000"/>
              </a:lnSpc>
              <a:spcBef>
                <a:spcPts val="0"/>
              </a:spcBef>
              <a:spcAft>
                <a:spcPts val="0"/>
              </a:spcAft>
              <a:buNone/>
            </a:pPr>
            <a:r>
              <a:rPr lang="en-US" sz="8000">
                <a:solidFill>
                  <a:srgbClr val="000000"/>
                </a:solidFill>
                <a:latin typeface="DM Sans"/>
                <a:ea typeface="DM Sans"/>
                <a:cs typeface="DM Sans"/>
                <a:sym typeface="DM Sans"/>
              </a:rPr>
              <a:t>03.</a:t>
            </a:r>
            <a:endParaRPr/>
          </a:p>
        </p:txBody>
      </p:sp>
      <p:sp>
        <p:nvSpPr>
          <p:cNvPr id="183" name="Google Shape;183;p17"/>
          <p:cNvSpPr txBox="1"/>
          <p:nvPr/>
        </p:nvSpPr>
        <p:spPr>
          <a:xfrm>
            <a:off x="12218908" y="2157098"/>
            <a:ext cx="4132127" cy="1384995"/>
          </a:xfrm>
          <a:prstGeom prst="rect">
            <a:avLst/>
          </a:prstGeom>
          <a:noFill/>
          <a:ln>
            <a:noFill/>
          </a:ln>
        </p:spPr>
        <p:txBody>
          <a:bodyPr anchorCtr="0" anchor="t" bIns="0" lIns="0" spcFirstLastPara="1" rIns="0" wrap="square" tIns="0">
            <a:spAutoFit/>
          </a:bodyPr>
          <a:lstStyle/>
          <a:p>
            <a:pPr indent="0" lvl="0" marL="0" marR="0" rtl="0" algn="just">
              <a:spcBef>
                <a:spcPts val="0"/>
              </a:spcBef>
              <a:spcAft>
                <a:spcPts val="0"/>
              </a:spcAft>
              <a:buNone/>
            </a:pPr>
            <a:r>
              <a:rPr b="1" lang="en-US" sz="1800" u="none">
                <a:solidFill>
                  <a:srgbClr val="000000"/>
                </a:solidFill>
                <a:latin typeface="DM Sans"/>
                <a:ea typeface="DM Sans"/>
                <a:cs typeface="DM Sans"/>
                <a:sym typeface="DM Sans"/>
              </a:rPr>
              <a:t>Before Data Exploration, we </a:t>
            </a:r>
            <a:r>
              <a:rPr b="1" lang="en-US" sz="1800">
                <a:solidFill>
                  <a:schemeClr val="dk1"/>
                </a:solidFill>
                <a:latin typeface="DM Sans"/>
                <a:ea typeface="DM Sans"/>
                <a:cs typeface="DM Sans"/>
                <a:sym typeface="DM Sans"/>
              </a:rPr>
              <a:t>Drop any unimportant columns, remove nulls values and mix any related columns into one columns then remove these related columns.</a:t>
            </a:r>
            <a:endParaRPr b="1" sz="1800" u="none">
              <a:solidFill>
                <a:srgbClr val="000000"/>
              </a:solidFill>
              <a:latin typeface="DM Sans"/>
              <a:ea typeface="DM Sans"/>
              <a:cs typeface="DM Sans"/>
              <a:sym typeface="DM Sans"/>
            </a:endParaRPr>
          </a:p>
        </p:txBody>
      </p:sp>
      <p:sp>
        <p:nvSpPr>
          <p:cNvPr id="184" name="Google Shape;184;p17"/>
          <p:cNvSpPr txBox="1"/>
          <p:nvPr/>
        </p:nvSpPr>
        <p:spPr>
          <a:xfrm>
            <a:off x="12218908" y="4511166"/>
            <a:ext cx="4132127" cy="1384995"/>
          </a:xfrm>
          <a:prstGeom prst="rect">
            <a:avLst/>
          </a:prstGeom>
          <a:noFill/>
          <a:ln>
            <a:noFill/>
          </a:ln>
        </p:spPr>
        <p:txBody>
          <a:bodyPr anchorCtr="0" anchor="t" bIns="0" lIns="0" spcFirstLastPara="1" rIns="0" wrap="square" tIns="0">
            <a:spAutoFit/>
          </a:bodyPr>
          <a:lstStyle/>
          <a:p>
            <a:pPr indent="0" lvl="0" marL="0" marR="0" rtl="0" algn="just">
              <a:spcBef>
                <a:spcPts val="0"/>
              </a:spcBef>
              <a:spcAft>
                <a:spcPts val="0"/>
              </a:spcAft>
              <a:buNone/>
            </a:pPr>
            <a:r>
              <a:rPr b="1" lang="en-US" sz="1800" u="none">
                <a:solidFill>
                  <a:srgbClr val="000000"/>
                </a:solidFill>
                <a:latin typeface="DM Sans"/>
                <a:ea typeface="DM Sans"/>
                <a:cs typeface="DM Sans"/>
                <a:sym typeface="DM Sans"/>
              </a:rPr>
              <a:t>Before training models, we drop any unimportant column, convert all features into numerical features and split the data into train and test data</a:t>
            </a:r>
            <a:endParaRPr/>
          </a:p>
        </p:txBody>
      </p:sp>
      <p:sp>
        <p:nvSpPr>
          <p:cNvPr id="185" name="Google Shape;185;p17"/>
          <p:cNvSpPr txBox="1"/>
          <p:nvPr/>
        </p:nvSpPr>
        <p:spPr>
          <a:xfrm>
            <a:off x="12218908" y="7197178"/>
            <a:ext cx="4132127" cy="979692"/>
          </a:xfrm>
          <a:prstGeom prst="rect">
            <a:avLst/>
          </a:prstGeom>
          <a:noFill/>
          <a:ln>
            <a:noFill/>
          </a:ln>
        </p:spPr>
        <p:txBody>
          <a:bodyPr anchorCtr="0" anchor="t" bIns="0" lIns="0" spcFirstLastPara="1" rIns="0" wrap="square" tIns="0">
            <a:spAutoFit/>
          </a:bodyPr>
          <a:lstStyle/>
          <a:p>
            <a:pPr indent="0" lvl="0" marL="0" marR="0" rtl="0" algn="just">
              <a:lnSpc>
                <a:spcPct val="104999"/>
              </a:lnSpc>
              <a:spcBef>
                <a:spcPts val="0"/>
              </a:spcBef>
              <a:spcAft>
                <a:spcPts val="0"/>
              </a:spcAft>
              <a:buNone/>
            </a:pPr>
            <a:r>
              <a:rPr b="1" lang="en-US" sz="1800" u="none">
                <a:solidFill>
                  <a:srgbClr val="000000"/>
                </a:solidFill>
                <a:latin typeface="DM Sans"/>
                <a:ea typeface="DM Sans"/>
                <a:cs typeface="DM Sans"/>
                <a:sym typeface="DM Sans"/>
              </a:rPr>
              <a:t>Before getting rules association, we convert all columns I will used to categorical columns to be able to get association rules easily</a:t>
            </a:r>
            <a:endParaRPr/>
          </a:p>
        </p:txBody>
      </p:sp>
      <p:sp>
        <p:nvSpPr>
          <p:cNvPr id="186" name="Google Shape;186;p17"/>
          <p:cNvSpPr/>
          <p:nvPr/>
        </p:nvSpPr>
        <p:spPr>
          <a:xfrm>
            <a:off x="-848571" y="8919661"/>
            <a:ext cx="3870946" cy="950141"/>
          </a:xfrm>
          <a:custGeom>
            <a:rect b="b" l="l" r="r" t="t"/>
            <a:pathLst>
              <a:path extrusionOk="0" h="950141" w="3870946">
                <a:moveTo>
                  <a:pt x="0" y="0"/>
                </a:moveTo>
                <a:lnTo>
                  <a:pt x="3870946" y="0"/>
                </a:lnTo>
                <a:lnTo>
                  <a:pt x="3870946" y="950141"/>
                </a:lnTo>
                <a:lnTo>
                  <a:pt x="0" y="950141"/>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7" name="Google Shape;187;p17"/>
          <p:cNvSpPr/>
          <p:nvPr/>
        </p:nvSpPr>
        <p:spPr>
          <a:xfrm>
            <a:off x="4472906" y="-2364815"/>
            <a:ext cx="4980952" cy="3731186"/>
          </a:xfrm>
          <a:custGeom>
            <a:rect b="b" l="l" r="r" t="t"/>
            <a:pathLst>
              <a:path extrusionOk="0" h="3731186" w="4980952">
                <a:moveTo>
                  <a:pt x="0" y="0"/>
                </a:moveTo>
                <a:lnTo>
                  <a:pt x="4980951" y="0"/>
                </a:lnTo>
                <a:lnTo>
                  <a:pt x="4980951" y="3731186"/>
                </a:lnTo>
                <a:lnTo>
                  <a:pt x="0" y="3731186"/>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8" name="Google Shape;188;p17"/>
          <p:cNvSpPr/>
          <p:nvPr/>
        </p:nvSpPr>
        <p:spPr>
          <a:xfrm>
            <a:off x="3431074" y="8919661"/>
            <a:ext cx="2587020" cy="2386526"/>
          </a:xfrm>
          <a:custGeom>
            <a:rect b="b" l="l" r="r" t="t"/>
            <a:pathLst>
              <a:path extrusionOk="0" h="2386526" w="2587020">
                <a:moveTo>
                  <a:pt x="0" y="0"/>
                </a:moveTo>
                <a:lnTo>
                  <a:pt x="2587019" y="0"/>
                </a:lnTo>
                <a:lnTo>
                  <a:pt x="2587019" y="2386525"/>
                </a:lnTo>
                <a:lnTo>
                  <a:pt x="0" y="2386525"/>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9" name="Google Shape;189;p17"/>
          <p:cNvSpPr/>
          <p:nvPr/>
        </p:nvSpPr>
        <p:spPr>
          <a:xfrm>
            <a:off x="-848571" y="-744412"/>
            <a:ext cx="2597326" cy="2796583"/>
          </a:xfrm>
          <a:custGeom>
            <a:rect b="b" l="l" r="r" t="t"/>
            <a:pathLst>
              <a:path extrusionOk="0" h="2796583" w="2597326">
                <a:moveTo>
                  <a:pt x="0" y="0"/>
                </a:moveTo>
                <a:lnTo>
                  <a:pt x="2597327" y="0"/>
                </a:lnTo>
                <a:lnTo>
                  <a:pt x="2597327" y="2796583"/>
                </a:lnTo>
                <a:lnTo>
                  <a:pt x="0" y="2796583"/>
                </a:lnTo>
                <a:lnTo>
                  <a:pt x="0" y="0"/>
                </a:lnTo>
                <a:close/>
              </a:path>
            </a:pathLst>
          </a:cu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0" name="Google Shape;190;p17"/>
          <p:cNvSpPr txBox="1"/>
          <p:nvPr/>
        </p:nvSpPr>
        <p:spPr>
          <a:xfrm>
            <a:off x="12178008" y="3497054"/>
            <a:ext cx="3671591" cy="939360"/>
          </a:xfrm>
          <a:prstGeom prst="rect">
            <a:avLst/>
          </a:prstGeom>
          <a:noFill/>
          <a:ln>
            <a:noFill/>
          </a:ln>
        </p:spPr>
        <p:txBody>
          <a:bodyPr anchorCtr="0" anchor="t" bIns="0" lIns="0" spcFirstLastPara="1" rIns="0" wrap="square" tIns="0">
            <a:spAutoFit/>
          </a:bodyPr>
          <a:lstStyle/>
          <a:p>
            <a:pPr indent="0" lvl="0" marL="0" marR="0" rtl="0" algn="l">
              <a:lnSpc>
                <a:spcPct val="311785"/>
              </a:lnSpc>
              <a:spcBef>
                <a:spcPts val="0"/>
              </a:spcBef>
              <a:spcAft>
                <a:spcPts val="0"/>
              </a:spcAft>
              <a:buNone/>
            </a:pPr>
            <a:r>
              <a:rPr b="1" lang="en-US" sz="2800">
                <a:solidFill>
                  <a:srgbClr val="000000"/>
                </a:solidFill>
                <a:latin typeface="DM Sans"/>
                <a:ea typeface="DM Sans"/>
                <a:cs typeface="DM Sans"/>
                <a:sym typeface="DM Sans"/>
              </a:rPr>
              <a:t>Data </a:t>
            </a:r>
            <a:r>
              <a:rPr b="1" lang="en-US" sz="2800">
                <a:solidFill>
                  <a:srgbClr val="000000"/>
                </a:solidFill>
                <a:latin typeface="Calibri"/>
                <a:ea typeface="Calibri"/>
                <a:cs typeface="Calibri"/>
                <a:sym typeface="Calibri"/>
              </a:rPr>
              <a:t>Preprocessing</a:t>
            </a:r>
            <a:endParaRPr/>
          </a:p>
        </p:txBody>
      </p:sp>
      <p:sp>
        <p:nvSpPr>
          <p:cNvPr id="191" name="Google Shape;191;p17"/>
          <p:cNvSpPr txBox="1"/>
          <p:nvPr/>
        </p:nvSpPr>
        <p:spPr>
          <a:xfrm>
            <a:off x="12218908" y="1168246"/>
            <a:ext cx="2476500" cy="939360"/>
          </a:xfrm>
          <a:prstGeom prst="rect">
            <a:avLst/>
          </a:prstGeom>
          <a:noFill/>
          <a:ln>
            <a:noFill/>
          </a:ln>
        </p:spPr>
        <p:txBody>
          <a:bodyPr anchorCtr="0" anchor="t" bIns="0" lIns="0" spcFirstLastPara="1" rIns="0" wrap="square" tIns="0">
            <a:spAutoFit/>
          </a:bodyPr>
          <a:lstStyle/>
          <a:p>
            <a:pPr indent="0" lvl="0" marL="0" marR="0" rtl="0" algn="l">
              <a:lnSpc>
                <a:spcPct val="311785"/>
              </a:lnSpc>
              <a:spcBef>
                <a:spcPts val="0"/>
              </a:spcBef>
              <a:spcAft>
                <a:spcPts val="0"/>
              </a:spcAft>
              <a:buNone/>
            </a:pPr>
            <a:r>
              <a:rPr b="1" lang="en-US" sz="2800">
                <a:solidFill>
                  <a:srgbClr val="000000"/>
                </a:solidFill>
                <a:latin typeface="DM Sans"/>
                <a:ea typeface="DM Sans"/>
                <a:cs typeface="DM Sans"/>
                <a:sym typeface="DM Sans"/>
              </a:rPr>
              <a:t>Data Cleaning</a:t>
            </a:r>
            <a:endParaRPr/>
          </a:p>
        </p:txBody>
      </p:sp>
      <p:sp>
        <p:nvSpPr>
          <p:cNvPr id="192" name="Google Shape;192;p17"/>
          <p:cNvSpPr txBox="1"/>
          <p:nvPr/>
        </p:nvSpPr>
        <p:spPr>
          <a:xfrm>
            <a:off x="12178009" y="6190418"/>
            <a:ext cx="3671590" cy="939360"/>
          </a:xfrm>
          <a:prstGeom prst="rect">
            <a:avLst/>
          </a:prstGeom>
          <a:noFill/>
          <a:ln>
            <a:noFill/>
          </a:ln>
        </p:spPr>
        <p:txBody>
          <a:bodyPr anchorCtr="0" anchor="t" bIns="0" lIns="0" spcFirstLastPara="1" rIns="0" wrap="square" tIns="0">
            <a:spAutoFit/>
          </a:bodyPr>
          <a:lstStyle/>
          <a:p>
            <a:pPr indent="0" lvl="0" marL="0" marR="0" rtl="0" algn="l">
              <a:lnSpc>
                <a:spcPct val="311785"/>
              </a:lnSpc>
              <a:spcBef>
                <a:spcPts val="0"/>
              </a:spcBef>
              <a:spcAft>
                <a:spcPts val="0"/>
              </a:spcAft>
              <a:buNone/>
            </a:pPr>
            <a:r>
              <a:rPr b="1" lang="en-US" sz="2800">
                <a:solidFill>
                  <a:srgbClr val="000000"/>
                </a:solidFill>
                <a:latin typeface="DM Sans"/>
                <a:ea typeface="DM Sans"/>
                <a:cs typeface="DM Sans"/>
                <a:sym typeface="DM Sans"/>
              </a:rPr>
              <a:t>Data Preprocessing</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18"/>
          <p:cNvSpPr/>
          <p:nvPr/>
        </p:nvSpPr>
        <p:spPr>
          <a:xfrm rot="-5400000">
            <a:off x="4000500" y="-4000500"/>
            <a:ext cx="10287000" cy="18288000"/>
          </a:xfrm>
          <a:custGeom>
            <a:rect b="b" l="l" r="r" t="t"/>
            <a:pathLst>
              <a:path extrusionOk="0" h="18288000" w="10287000">
                <a:moveTo>
                  <a:pt x="10287000" y="0"/>
                </a:moveTo>
                <a:lnTo>
                  <a:pt x="10287000" y="18288000"/>
                </a:lnTo>
                <a:lnTo>
                  <a:pt x="0" y="18288000"/>
                </a:lnTo>
                <a:lnTo>
                  <a:pt x="0" y="0"/>
                </a:lnTo>
                <a:lnTo>
                  <a:pt x="10287000" y="0"/>
                </a:lnTo>
                <a:close/>
              </a:path>
            </a:pathLst>
          </a:custGeom>
          <a:blipFill rotWithShape="1">
            <a:blip r:embed="rId3">
              <a:alphaModFix/>
            </a:blip>
            <a:stretch>
              <a:fillRect b="-2747" l="-71865" r="-74156" t="-363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8" name="Google Shape;198;p18"/>
          <p:cNvSpPr/>
          <p:nvPr/>
        </p:nvSpPr>
        <p:spPr>
          <a:xfrm>
            <a:off x="10078075" y="1267971"/>
            <a:ext cx="4208573" cy="4247184"/>
          </a:xfrm>
          <a:custGeom>
            <a:rect b="b" l="l" r="r" t="t"/>
            <a:pathLst>
              <a:path extrusionOk="0" h="4247184" w="4208573">
                <a:moveTo>
                  <a:pt x="0" y="0"/>
                </a:moveTo>
                <a:lnTo>
                  <a:pt x="4208574" y="0"/>
                </a:lnTo>
                <a:lnTo>
                  <a:pt x="4208574" y="4247184"/>
                </a:lnTo>
                <a:lnTo>
                  <a:pt x="0" y="4247184"/>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9" name="Google Shape;199;p18"/>
          <p:cNvSpPr txBox="1"/>
          <p:nvPr/>
        </p:nvSpPr>
        <p:spPr>
          <a:xfrm>
            <a:off x="1504950" y="2345718"/>
            <a:ext cx="10534650" cy="1166538"/>
          </a:xfrm>
          <a:prstGeom prst="rect">
            <a:avLst/>
          </a:prstGeom>
          <a:noFill/>
          <a:ln>
            <a:noFill/>
          </a:ln>
        </p:spPr>
        <p:txBody>
          <a:bodyPr anchorCtr="0" anchor="t" bIns="0" lIns="0" spcFirstLastPara="1" rIns="0" wrap="square" tIns="0">
            <a:spAutoFit/>
          </a:bodyPr>
          <a:lstStyle/>
          <a:p>
            <a:pPr indent="0" lvl="0" marL="0" marR="0" rtl="0" algn="l">
              <a:lnSpc>
                <a:spcPct val="97000"/>
              </a:lnSpc>
              <a:spcBef>
                <a:spcPts val="0"/>
              </a:spcBef>
              <a:spcAft>
                <a:spcPts val="0"/>
              </a:spcAft>
              <a:buNone/>
            </a:pPr>
            <a:r>
              <a:rPr b="1" lang="en-US" sz="9000">
                <a:solidFill>
                  <a:srgbClr val="000000"/>
                </a:solidFill>
                <a:latin typeface="DM Sans"/>
                <a:ea typeface="DM Sans"/>
                <a:cs typeface="DM Sans"/>
                <a:sym typeface="DM Sans"/>
              </a:rPr>
              <a:t>Data Exploration</a:t>
            </a:r>
            <a:endParaRPr/>
          </a:p>
        </p:txBody>
      </p:sp>
      <p:sp>
        <p:nvSpPr>
          <p:cNvPr id="200" name="Google Shape;200;p18"/>
          <p:cNvSpPr txBox="1"/>
          <p:nvPr/>
        </p:nvSpPr>
        <p:spPr>
          <a:xfrm>
            <a:off x="2133600" y="4388184"/>
            <a:ext cx="7707571" cy="403637"/>
          </a:xfrm>
          <a:prstGeom prst="rect">
            <a:avLst/>
          </a:prstGeom>
          <a:noFill/>
          <a:ln>
            <a:noFill/>
          </a:ln>
        </p:spPr>
        <p:txBody>
          <a:bodyPr anchorCtr="0" anchor="t" bIns="0" lIns="0" spcFirstLastPara="1" rIns="0" wrap="square" tIns="0">
            <a:spAutoFit/>
          </a:bodyPr>
          <a:lstStyle/>
          <a:p>
            <a:pPr indent="0" lvl="0" marL="0" marR="0" rtl="0" algn="l">
              <a:lnSpc>
                <a:spcPct val="67475"/>
              </a:lnSpc>
              <a:spcBef>
                <a:spcPts val="0"/>
              </a:spcBef>
              <a:spcAft>
                <a:spcPts val="0"/>
              </a:spcAft>
              <a:buNone/>
            </a:pPr>
            <a:r>
              <a:rPr b="1" lang="en-US" sz="4000">
                <a:solidFill>
                  <a:schemeClr val="dk1"/>
                </a:solidFill>
                <a:latin typeface="Calibri"/>
                <a:ea typeface="Calibri"/>
                <a:cs typeface="Calibri"/>
                <a:sym typeface="Calibri"/>
              </a:rPr>
              <a:t>Extract visualizations and Insights</a:t>
            </a:r>
            <a:endParaRPr b="1" sz="4000" u="none">
              <a:solidFill>
                <a:srgbClr val="000000"/>
              </a:solidFill>
              <a:latin typeface="DM Sans"/>
              <a:ea typeface="DM Sans"/>
              <a:cs typeface="DM Sans"/>
              <a:sym typeface="DM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19"/>
          <p:cNvSpPr/>
          <p:nvPr/>
        </p:nvSpPr>
        <p:spPr>
          <a:xfrm rot="-5400000">
            <a:off x="4000500" y="-4000500"/>
            <a:ext cx="10287000" cy="18288000"/>
          </a:xfrm>
          <a:custGeom>
            <a:rect b="b" l="l" r="r" t="t"/>
            <a:pathLst>
              <a:path extrusionOk="0" h="18288000" w="10287000">
                <a:moveTo>
                  <a:pt x="10287000" y="0"/>
                </a:moveTo>
                <a:lnTo>
                  <a:pt x="10287000" y="18288000"/>
                </a:lnTo>
                <a:lnTo>
                  <a:pt x="0" y="18288000"/>
                </a:lnTo>
                <a:lnTo>
                  <a:pt x="0" y="0"/>
                </a:lnTo>
                <a:lnTo>
                  <a:pt x="10287000" y="0"/>
                </a:lnTo>
                <a:close/>
              </a:path>
            </a:pathLst>
          </a:custGeom>
          <a:blipFill rotWithShape="1">
            <a:blip r:embed="rId3">
              <a:alphaModFix/>
            </a:blip>
            <a:stretch>
              <a:fillRect b="-2747" l="-71865" r="-74156" t="-363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6" name="Google Shape;206;p19"/>
          <p:cNvSpPr txBox="1"/>
          <p:nvPr/>
        </p:nvSpPr>
        <p:spPr>
          <a:xfrm>
            <a:off x="1828800" y="3009900"/>
            <a:ext cx="7707571" cy="161582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3500">
                <a:solidFill>
                  <a:schemeClr val="dk1"/>
                </a:solidFill>
                <a:latin typeface="Calibri"/>
                <a:ea typeface="Calibri"/>
                <a:cs typeface="Calibri"/>
                <a:sym typeface="Calibri"/>
              </a:rPr>
              <a:t>Distribution of review score which shows that a large percentage of of customers are satisfied with services and products</a:t>
            </a:r>
            <a:endParaRPr sz="3500" u="none">
              <a:solidFill>
                <a:srgbClr val="000000"/>
              </a:solidFill>
              <a:latin typeface="DM Sans"/>
              <a:ea typeface="DM Sans"/>
              <a:cs typeface="DM Sans"/>
              <a:sym typeface="DM Sans"/>
            </a:endParaRPr>
          </a:p>
        </p:txBody>
      </p:sp>
      <p:pic>
        <p:nvPicPr>
          <p:cNvPr id="207" name="Google Shape;207;p19"/>
          <p:cNvPicPr preferRelativeResize="0"/>
          <p:nvPr/>
        </p:nvPicPr>
        <p:blipFill rotWithShape="1">
          <a:blip r:embed="rId4">
            <a:alphaModFix/>
          </a:blip>
          <a:srcRect b="0" l="0" r="0" t="0"/>
          <a:stretch/>
        </p:blipFill>
        <p:spPr>
          <a:xfrm>
            <a:off x="10287000" y="1714500"/>
            <a:ext cx="6934200" cy="52578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0"/>
          <p:cNvSpPr/>
          <p:nvPr/>
        </p:nvSpPr>
        <p:spPr>
          <a:xfrm rot="-5400000">
            <a:off x="4000500" y="-4000500"/>
            <a:ext cx="10287000" cy="18288000"/>
          </a:xfrm>
          <a:custGeom>
            <a:rect b="b" l="l" r="r" t="t"/>
            <a:pathLst>
              <a:path extrusionOk="0" h="18288000" w="10287000">
                <a:moveTo>
                  <a:pt x="10287000" y="0"/>
                </a:moveTo>
                <a:lnTo>
                  <a:pt x="10287000" y="18288000"/>
                </a:lnTo>
                <a:lnTo>
                  <a:pt x="0" y="18288000"/>
                </a:lnTo>
                <a:lnTo>
                  <a:pt x="0" y="0"/>
                </a:lnTo>
                <a:lnTo>
                  <a:pt x="10287000" y="0"/>
                </a:lnTo>
                <a:close/>
              </a:path>
            </a:pathLst>
          </a:custGeom>
          <a:blipFill rotWithShape="1">
            <a:blip r:embed="rId3">
              <a:alphaModFix/>
            </a:blip>
            <a:stretch>
              <a:fillRect b="-2747" l="-71865" r="-74156" t="-363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3" name="Google Shape;213;p20"/>
          <p:cNvSpPr txBox="1"/>
          <p:nvPr/>
        </p:nvSpPr>
        <p:spPr>
          <a:xfrm>
            <a:off x="1441190" y="723900"/>
            <a:ext cx="7707571" cy="2215991"/>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3600">
                <a:solidFill>
                  <a:schemeClr val="dk1"/>
                </a:solidFill>
                <a:latin typeface="Calibri"/>
                <a:ea typeface="Calibri"/>
                <a:cs typeface="Calibri"/>
                <a:sym typeface="Calibri"/>
              </a:rPr>
              <a:t>Distribution of numerical attributes that shows what the customers used more as services and also shows some distribution of returns</a:t>
            </a:r>
            <a:endParaRPr sz="3500" u="none">
              <a:solidFill>
                <a:srgbClr val="000000"/>
              </a:solidFill>
              <a:latin typeface="DM Sans"/>
              <a:ea typeface="DM Sans"/>
              <a:cs typeface="DM Sans"/>
              <a:sym typeface="DM Sans"/>
            </a:endParaRPr>
          </a:p>
        </p:txBody>
      </p:sp>
      <p:pic>
        <p:nvPicPr>
          <p:cNvPr id="214" name="Google Shape;214;p20"/>
          <p:cNvPicPr preferRelativeResize="0"/>
          <p:nvPr/>
        </p:nvPicPr>
        <p:blipFill rotWithShape="1">
          <a:blip r:embed="rId4">
            <a:alphaModFix/>
          </a:blip>
          <a:srcRect b="0" l="0" r="0" t="0"/>
          <a:stretch/>
        </p:blipFill>
        <p:spPr>
          <a:xfrm>
            <a:off x="-1" y="3075714"/>
            <a:ext cx="18288000" cy="648738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1"/>
          <p:cNvSpPr/>
          <p:nvPr/>
        </p:nvSpPr>
        <p:spPr>
          <a:xfrm rot="-5400000">
            <a:off x="4000500" y="-4000500"/>
            <a:ext cx="10287000" cy="18288000"/>
          </a:xfrm>
          <a:custGeom>
            <a:rect b="b" l="l" r="r" t="t"/>
            <a:pathLst>
              <a:path extrusionOk="0" h="18288000" w="10287000">
                <a:moveTo>
                  <a:pt x="10287000" y="0"/>
                </a:moveTo>
                <a:lnTo>
                  <a:pt x="10287000" y="18288000"/>
                </a:lnTo>
                <a:lnTo>
                  <a:pt x="0" y="18288000"/>
                </a:lnTo>
                <a:lnTo>
                  <a:pt x="0" y="0"/>
                </a:lnTo>
                <a:lnTo>
                  <a:pt x="10287000" y="0"/>
                </a:lnTo>
                <a:close/>
              </a:path>
            </a:pathLst>
          </a:custGeom>
          <a:blipFill rotWithShape="1">
            <a:blip r:embed="rId3">
              <a:alphaModFix/>
            </a:blip>
            <a:stretch>
              <a:fillRect b="-2747" l="-71865" r="-74156" t="-363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0" name="Google Shape;220;p21"/>
          <p:cNvSpPr txBox="1"/>
          <p:nvPr/>
        </p:nvSpPr>
        <p:spPr>
          <a:xfrm>
            <a:off x="3124200" y="3162300"/>
            <a:ext cx="7707571" cy="55399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3600">
                <a:solidFill>
                  <a:schemeClr val="dk1"/>
                </a:solidFill>
                <a:latin typeface="Calibri"/>
                <a:ea typeface="Calibri"/>
                <a:cs typeface="Calibri"/>
                <a:sym typeface="Calibri"/>
              </a:rPr>
              <a:t>Top 10 customer states </a:t>
            </a:r>
            <a:endParaRPr sz="3500" u="none">
              <a:solidFill>
                <a:srgbClr val="000000"/>
              </a:solidFill>
              <a:latin typeface="DM Sans"/>
              <a:ea typeface="DM Sans"/>
              <a:cs typeface="DM Sans"/>
              <a:sym typeface="DM Sans"/>
            </a:endParaRPr>
          </a:p>
        </p:txBody>
      </p:sp>
      <p:pic>
        <p:nvPicPr>
          <p:cNvPr id="221" name="Google Shape;221;p21"/>
          <p:cNvPicPr preferRelativeResize="0"/>
          <p:nvPr/>
        </p:nvPicPr>
        <p:blipFill rotWithShape="1">
          <a:blip r:embed="rId4">
            <a:alphaModFix/>
          </a:blip>
          <a:srcRect b="0" l="0" r="0" t="0"/>
          <a:stretch/>
        </p:blipFill>
        <p:spPr>
          <a:xfrm>
            <a:off x="9372600" y="1409700"/>
            <a:ext cx="7696200" cy="62484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22"/>
          <p:cNvSpPr/>
          <p:nvPr/>
        </p:nvSpPr>
        <p:spPr>
          <a:xfrm rot="-5400000">
            <a:off x="4000500" y="-4000500"/>
            <a:ext cx="10287000" cy="18288000"/>
          </a:xfrm>
          <a:custGeom>
            <a:rect b="b" l="l" r="r" t="t"/>
            <a:pathLst>
              <a:path extrusionOk="0" h="18288000" w="10287000">
                <a:moveTo>
                  <a:pt x="10287000" y="0"/>
                </a:moveTo>
                <a:lnTo>
                  <a:pt x="10287000" y="18288000"/>
                </a:lnTo>
                <a:lnTo>
                  <a:pt x="0" y="18288000"/>
                </a:lnTo>
                <a:lnTo>
                  <a:pt x="0" y="0"/>
                </a:lnTo>
                <a:lnTo>
                  <a:pt x="10287000" y="0"/>
                </a:lnTo>
                <a:close/>
              </a:path>
            </a:pathLst>
          </a:custGeom>
          <a:blipFill rotWithShape="1">
            <a:blip r:embed="rId3">
              <a:alphaModFix/>
            </a:blip>
            <a:stretch>
              <a:fillRect b="-2747" l="-71865" r="-74156" t="-363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7" name="Google Shape;227;p22"/>
          <p:cNvSpPr txBox="1"/>
          <p:nvPr/>
        </p:nvSpPr>
        <p:spPr>
          <a:xfrm>
            <a:off x="2057400" y="419100"/>
            <a:ext cx="7707571" cy="11079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3600">
                <a:solidFill>
                  <a:schemeClr val="dk1"/>
                </a:solidFill>
                <a:latin typeface="Calibri"/>
                <a:ea typeface="Calibri"/>
                <a:cs typeface="Calibri"/>
                <a:sym typeface="Calibri"/>
              </a:rPr>
              <a:t>Review scores percentage for top 10 customer states</a:t>
            </a:r>
            <a:endParaRPr sz="3500" u="none">
              <a:solidFill>
                <a:srgbClr val="000000"/>
              </a:solidFill>
              <a:latin typeface="DM Sans"/>
              <a:ea typeface="DM Sans"/>
              <a:cs typeface="DM Sans"/>
              <a:sym typeface="DM Sans"/>
            </a:endParaRPr>
          </a:p>
        </p:txBody>
      </p:sp>
      <p:pic>
        <p:nvPicPr>
          <p:cNvPr id="228" name="Google Shape;228;p22"/>
          <p:cNvPicPr preferRelativeResize="0"/>
          <p:nvPr/>
        </p:nvPicPr>
        <p:blipFill rotWithShape="1">
          <a:blip r:embed="rId4">
            <a:alphaModFix/>
          </a:blip>
          <a:srcRect b="0" l="0" r="0" t="0"/>
          <a:stretch/>
        </p:blipFill>
        <p:spPr>
          <a:xfrm>
            <a:off x="0" y="1638300"/>
            <a:ext cx="18288000" cy="858937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23"/>
          <p:cNvSpPr/>
          <p:nvPr/>
        </p:nvSpPr>
        <p:spPr>
          <a:xfrm rot="-5400000">
            <a:off x="4000500" y="-4000500"/>
            <a:ext cx="10287000" cy="18288000"/>
          </a:xfrm>
          <a:custGeom>
            <a:rect b="b" l="l" r="r" t="t"/>
            <a:pathLst>
              <a:path extrusionOk="0" h="18288000" w="10287000">
                <a:moveTo>
                  <a:pt x="10287000" y="0"/>
                </a:moveTo>
                <a:lnTo>
                  <a:pt x="10287000" y="18288000"/>
                </a:lnTo>
                <a:lnTo>
                  <a:pt x="0" y="18288000"/>
                </a:lnTo>
                <a:lnTo>
                  <a:pt x="0" y="0"/>
                </a:lnTo>
                <a:lnTo>
                  <a:pt x="10287000" y="0"/>
                </a:lnTo>
                <a:close/>
              </a:path>
            </a:pathLst>
          </a:custGeom>
          <a:blipFill rotWithShape="1">
            <a:blip r:embed="rId3">
              <a:alphaModFix/>
            </a:blip>
            <a:stretch>
              <a:fillRect b="-2747" l="-71865" r="-74156" t="-363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4" name="Google Shape;234;p23"/>
          <p:cNvSpPr txBox="1"/>
          <p:nvPr/>
        </p:nvSpPr>
        <p:spPr>
          <a:xfrm>
            <a:off x="4114800" y="3543300"/>
            <a:ext cx="7707571" cy="55399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3600">
                <a:solidFill>
                  <a:schemeClr val="dk1"/>
                </a:solidFill>
                <a:latin typeface="Calibri"/>
                <a:ea typeface="Calibri"/>
                <a:cs typeface="Calibri"/>
                <a:sym typeface="Calibri"/>
              </a:rPr>
              <a:t>Top 10 seller states</a:t>
            </a:r>
            <a:endParaRPr sz="3500" u="none">
              <a:solidFill>
                <a:srgbClr val="000000"/>
              </a:solidFill>
              <a:latin typeface="DM Sans"/>
              <a:ea typeface="DM Sans"/>
              <a:cs typeface="DM Sans"/>
              <a:sym typeface="DM Sans"/>
            </a:endParaRPr>
          </a:p>
        </p:txBody>
      </p:sp>
      <p:pic>
        <p:nvPicPr>
          <p:cNvPr id="235" name="Google Shape;235;p23"/>
          <p:cNvPicPr preferRelativeResize="0"/>
          <p:nvPr/>
        </p:nvPicPr>
        <p:blipFill rotWithShape="1">
          <a:blip r:embed="rId4">
            <a:alphaModFix/>
          </a:blip>
          <a:srcRect b="0" l="0" r="0" t="0"/>
          <a:stretch/>
        </p:blipFill>
        <p:spPr>
          <a:xfrm>
            <a:off x="9764972" y="1409700"/>
            <a:ext cx="7303828" cy="70104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24"/>
          <p:cNvSpPr/>
          <p:nvPr/>
        </p:nvSpPr>
        <p:spPr>
          <a:xfrm rot="-5400000">
            <a:off x="4000500" y="-4000500"/>
            <a:ext cx="10287000" cy="18288000"/>
          </a:xfrm>
          <a:custGeom>
            <a:rect b="b" l="l" r="r" t="t"/>
            <a:pathLst>
              <a:path extrusionOk="0" h="18288000" w="10287000">
                <a:moveTo>
                  <a:pt x="10287000" y="0"/>
                </a:moveTo>
                <a:lnTo>
                  <a:pt x="10287000" y="18288000"/>
                </a:lnTo>
                <a:lnTo>
                  <a:pt x="0" y="18288000"/>
                </a:lnTo>
                <a:lnTo>
                  <a:pt x="0" y="0"/>
                </a:lnTo>
                <a:lnTo>
                  <a:pt x="10287000" y="0"/>
                </a:lnTo>
                <a:close/>
              </a:path>
            </a:pathLst>
          </a:custGeom>
          <a:blipFill rotWithShape="1">
            <a:blip r:embed="rId3">
              <a:alphaModFix/>
            </a:blip>
            <a:stretch>
              <a:fillRect b="-2747" l="-71865" r="-74156" t="-363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1" name="Google Shape;241;p24"/>
          <p:cNvSpPr txBox="1"/>
          <p:nvPr/>
        </p:nvSpPr>
        <p:spPr>
          <a:xfrm>
            <a:off x="2819400" y="427851"/>
            <a:ext cx="7707571" cy="11079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3600">
                <a:solidFill>
                  <a:schemeClr val="dk1"/>
                </a:solidFill>
                <a:latin typeface="Calibri"/>
                <a:ea typeface="Calibri"/>
                <a:cs typeface="Calibri"/>
                <a:sym typeface="Calibri"/>
              </a:rPr>
              <a:t>Review scores percentage for top 10 seller states</a:t>
            </a:r>
            <a:endParaRPr sz="3500" u="none">
              <a:solidFill>
                <a:srgbClr val="000000"/>
              </a:solidFill>
              <a:latin typeface="DM Sans"/>
              <a:ea typeface="DM Sans"/>
              <a:cs typeface="DM Sans"/>
              <a:sym typeface="DM Sans"/>
            </a:endParaRPr>
          </a:p>
        </p:txBody>
      </p:sp>
      <p:pic>
        <p:nvPicPr>
          <p:cNvPr id="242" name="Google Shape;242;p24"/>
          <p:cNvPicPr preferRelativeResize="0"/>
          <p:nvPr/>
        </p:nvPicPr>
        <p:blipFill rotWithShape="1">
          <a:blip r:embed="rId4">
            <a:alphaModFix/>
          </a:blip>
          <a:srcRect b="0" l="0" r="0" t="0"/>
          <a:stretch/>
        </p:blipFill>
        <p:spPr>
          <a:xfrm>
            <a:off x="0" y="1535847"/>
            <a:ext cx="18288000" cy="869182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25"/>
          <p:cNvSpPr/>
          <p:nvPr/>
        </p:nvSpPr>
        <p:spPr>
          <a:xfrm rot="-5400000">
            <a:off x="4000500" y="-4000500"/>
            <a:ext cx="10287000" cy="18288000"/>
          </a:xfrm>
          <a:custGeom>
            <a:rect b="b" l="l" r="r" t="t"/>
            <a:pathLst>
              <a:path extrusionOk="0" h="18288000" w="10287000">
                <a:moveTo>
                  <a:pt x="10287000" y="0"/>
                </a:moveTo>
                <a:lnTo>
                  <a:pt x="10287000" y="18288000"/>
                </a:lnTo>
                <a:lnTo>
                  <a:pt x="0" y="18288000"/>
                </a:lnTo>
                <a:lnTo>
                  <a:pt x="0" y="0"/>
                </a:lnTo>
                <a:lnTo>
                  <a:pt x="10287000" y="0"/>
                </a:lnTo>
                <a:close/>
              </a:path>
            </a:pathLst>
          </a:custGeom>
          <a:blipFill rotWithShape="1">
            <a:blip r:embed="rId3">
              <a:alphaModFix/>
            </a:blip>
            <a:stretch>
              <a:fillRect b="-2747" l="-71865" r="-74156" t="-363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8" name="Google Shape;248;p25"/>
          <p:cNvSpPr txBox="1"/>
          <p:nvPr/>
        </p:nvSpPr>
        <p:spPr>
          <a:xfrm>
            <a:off x="1447800" y="3009900"/>
            <a:ext cx="7707571" cy="55399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3600">
                <a:solidFill>
                  <a:schemeClr val="dk1"/>
                </a:solidFill>
                <a:latin typeface="Calibri"/>
                <a:ea typeface="Calibri"/>
                <a:cs typeface="Calibri"/>
                <a:sym typeface="Calibri"/>
              </a:rPr>
              <a:t>Most used payment methods for orders</a:t>
            </a:r>
            <a:endParaRPr sz="3500" u="none">
              <a:solidFill>
                <a:srgbClr val="000000"/>
              </a:solidFill>
              <a:latin typeface="DM Sans"/>
              <a:ea typeface="DM Sans"/>
              <a:cs typeface="DM Sans"/>
              <a:sym typeface="DM Sans"/>
            </a:endParaRPr>
          </a:p>
        </p:txBody>
      </p:sp>
      <p:pic>
        <p:nvPicPr>
          <p:cNvPr id="249" name="Google Shape;249;p25"/>
          <p:cNvPicPr preferRelativeResize="0"/>
          <p:nvPr/>
        </p:nvPicPr>
        <p:blipFill rotWithShape="1">
          <a:blip r:embed="rId4">
            <a:alphaModFix/>
          </a:blip>
          <a:srcRect b="0" l="0" r="0" t="0"/>
          <a:stretch/>
        </p:blipFill>
        <p:spPr>
          <a:xfrm>
            <a:off x="9448800" y="1409700"/>
            <a:ext cx="7391400" cy="70104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26"/>
          <p:cNvSpPr/>
          <p:nvPr/>
        </p:nvSpPr>
        <p:spPr>
          <a:xfrm rot="-5400000">
            <a:off x="4000500" y="-4000500"/>
            <a:ext cx="10287000" cy="18288000"/>
          </a:xfrm>
          <a:custGeom>
            <a:rect b="b" l="l" r="r" t="t"/>
            <a:pathLst>
              <a:path extrusionOk="0" h="18288000" w="10287000">
                <a:moveTo>
                  <a:pt x="10287000" y="0"/>
                </a:moveTo>
                <a:lnTo>
                  <a:pt x="10287000" y="18288000"/>
                </a:lnTo>
                <a:lnTo>
                  <a:pt x="0" y="18288000"/>
                </a:lnTo>
                <a:lnTo>
                  <a:pt x="0" y="0"/>
                </a:lnTo>
                <a:lnTo>
                  <a:pt x="10287000" y="0"/>
                </a:lnTo>
                <a:close/>
              </a:path>
            </a:pathLst>
          </a:custGeom>
          <a:blipFill rotWithShape="1">
            <a:blip r:embed="rId3">
              <a:alphaModFix/>
            </a:blip>
            <a:stretch>
              <a:fillRect b="-2747" l="-71865" r="-74156" t="-363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5" name="Google Shape;255;p26"/>
          <p:cNvSpPr txBox="1"/>
          <p:nvPr/>
        </p:nvSpPr>
        <p:spPr>
          <a:xfrm>
            <a:off x="1447800" y="3009900"/>
            <a:ext cx="7707571" cy="11079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3600">
                <a:solidFill>
                  <a:schemeClr val="dk1"/>
                </a:solidFill>
                <a:latin typeface="Calibri"/>
                <a:ea typeface="Calibri"/>
                <a:cs typeface="Calibri"/>
                <a:sym typeface="Calibri"/>
              </a:rPr>
              <a:t>Distribution of payment type with respect to review score</a:t>
            </a:r>
            <a:endParaRPr sz="3500" u="none">
              <a:solidFill>
                <a:srgbClr val="000000"/>
              </a:solidFill>
              <a:latin typeface="DM Sans"/>
              <a:ea typeface="DM Sans"/>
              <a:cs typeface="DM Sans"/>
              <a:sym typeface="DM Sans"/>
            </a:endParaRPr>
          </a:p>
        </p:txBody>
      </p:sp>
      <p:pic>
        <p:nvPicPr>
          <p:cNvPr id="256" name="Google Shape;256;p26"/>
          <p:cNvPicPr preferRelativeResize="0"/>
          <p:nvPr/>
        </p:nvPicPr>
        <p:blipFill rotWithShape="1">
          <a:blip r:embed="rId4">
            <a:alphaModFix/>
          </a:blip>
          <a:srcRect b="0" l="0" r="0" t="0"/>
          <a:stretch/>
        </p:blipFill>
        <p:spPr>
          <a:xfrm>
            <a:off x="9372600" y="2324100"/>
            <a:ext cx="7848600" cy="59436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27"/>
          <p:cNvSpPr/>
          <p:nvPr/>
        </p:nvSpPr>
        <p:spPr>
          <a:xfrm rot="-5400000">
            <a:off x="4000500" y="-4000500"/>
            <a:ext cx="10287000" cy="18288000"/>
          </a:xfrm>
          <a:custGeom>
            <a:rect b="b" l="l" r="r" t="t"/>
            <a:pathLst>
              <a:path extrusionOk="0" h="18288000" w="10287000">
                <a:moveTo>
                  <a:pt x="10287000" y="0"/>
                </a:moveTo>
                <a:lnTo>
                  <a:pt x="10287000" y="18288000"/>
                </a:lnTo>
                <a:lnTo>
                  <a:pt x="0" y="18288000"/>
                </a:lnTo>
                <a:lnTo>
                  <a:pt x="0" y="0"/>
                </a:lnTo>
                <a:lnTo>
                  <a:pt x="10287000" y="0"/>
                </a:lnTo>
                <a:close/>
              </a:path>
            </a:pathLst>
          </a:custGeom>
          <a:blipFill rotWithShape="1">
            <a:blip r:embed="rId3">
              <a:alphaModFix/>
            </a:blip>
            <a:stretch>
              <a:fillRect b="-2747" l="-71865" r="-74156" t="-363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2" name="Google Shape;262;p27"/>
          <p:cNvSpPr txBox="1"/>
          <p:nvPr/>
        </p:nvSpPr>
        <p:spPr>
          <a:xfrm>
            <a:off x="228600" y="3695700"/>
            <a:ext cx="7707571" cy="55399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3600">
                <a:solidFill>
                  <a:schemeClr val="dk1"/>
                </a:solidFill>
                <a:latin typeface="Calibri"/>
                <a:ea typeface="Calibri"/>
                <a:cs typeface="Calibri"/>
                <a:sym typeface="Calibri"/>
              </a:rPr>
              <a:t>Payment type based on payment value</a:t>
            </a:r>
            <a:endParaRPr sz="3500" u="none">
              <a:solidFill>
                <a:srgbClr val="000000"/>
              </a:solidFill>
              <a:latin typeface="DM Sans"/>
              <a:ea typeface="DM Sans"/>
              <a:cs typeface="DM Sans"/>
              <a:sym typeface="DM Sans"/>
            </a:endParaRPr>
          </a:p>
        </p:txBody>
      </p:sp>
      <p:pic>
        <p:nvPicPr>
          <p:cNvPr id="263" name="Google Shape;263;p27"/>
          <p:cNvPicPr preferRelativeResize="0"/>
          <p:nvPr/>
        </p:nvPicPr>
        <p:blipFill rotWithShape="1">
          <a:blip r:embed="rId4">
            <a:alphaModFix/>
          </a:blip>
          <a:srcRect b="0" l="0" r="0" t="0"/>
          <a:stretch/>
        </p:blipFill>
        <p:spPr>
          <a:xfrm>
            <a:off x="7543800" y="2324100"/>
            <a:ext cx="10182225" cy="54864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28"/>
          <p:cNvSpPr/>
          <p:nvPr/>
        </p:nvSpPr>
        <p:spPr>
          <a:xfrm rot="-5400000">
            <a:off x="4000500" y="-4000500"/>
            <a:ext cx="10287000" cy="18288000"/>
          </a:xfrm>
          <a:custGeom>
            <a:rect b="b" l="l" r="r" t="t"/>
            <a:pathLst>
              <a:path extrusionOk="0" h="18288000" w="10287000">
                <a:moveTo>
                  <a:pt x="10287000" y="0"/>
                </a:moveTo>
                <a:lnTo>
                  <a:pt x="10287000" y="18288000"/>
                </a:lnTo>
                <a:lnTo>
                  <a:pt x="0" y="18288000"/>
                </a:lnTo>
                <a:lnTo>
                  <a:pt x="0" y="0"/>
                </a:lnTo>
                <a:lnTo>
                  <a:pt x="10287000" y="0"/>
                </a:lnTo>
                <a:close/>
              </a:path>
            </a:pathLst>
          </a:custGeom>
          <a:blipFill rotWithShape="1">
            <a:blip r:embed="rId3">
              <a:alphaModFix/>
            </a:blip>
            <a:stretch>
              <a:fillRect b="-2747" l="-71865" r="-74156" t="-363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9" name="Google Shape;269;p28"/>
          <p:cNvSpPr txBox="1"/>
          <p:nvPr/>
        </p:nvSpPr>
        <p:spPr>
          <a:xfrm>
            <a:off x="1445953" y="3390900"/>
            <a:ext cx="7707571" cy="11079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3600">
                <a:solidFill>
                  <a:schemeClr val="dk1"/>
                </a:solidFill>
                <a:latin typeface="Calibri"/>
                <a:ea typeface="Calibri"/>
                <a:cs typeface="Calibri"/>
                <a:sym typeface="Calibri"/>
              </a:rPr>
              <a:t>Review score based on payment installments</a:t>
            </a:r>
            <a:endParaRPr sz="3500" u="none">
              <a:solidFill>
                <a:srgbClr val="000000"/>
              </a:solidFill>
              <a:latin typeface="DM Sans"/>
              <a:ea typeface="DM Sans"/>
              <a:cs typeface="DM Sans"/>
              <a:sym typeface="DM Sans"/>
            </a:endParaRPr>
          </a:p>
        </p:txBody>
      </p:sp>
      <p:pic>
        <p:nvPicPr>
          <p:cNvPr id="270" name="Google Shape;270;p28"/>
          <p:cNvPicPr preferRelativeResize="0"/>
          <p:nvPr/>
        </p:nvPicPr>
        <p:blipFill rotWithShape="1">
          <a:blip r:embed="rId4">
            <a:alphaModFix/>
          </a:blip>
          <a:srcRect b="0" l="0" r="0" t="0"/>
          <a:stretch/>
        </p:blipFill>
        <p:spPr>
          <a:xfrm>
            <a:off x="8164772" y="2247900"/>
            <a:ext cx="9056428" cy="54864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29"/>
          <p:cNvSpPr/>
          <p:nvPr/>
        </p:nvSpPr>
        <p:spPr>
          <a:xfrm rot="-5400000">
            <a:off x="4000500" y="-4000500"/>
            <a:ext cx="10287000" cy="18288000"/>
          </a:xfrm>
          <a:custGeom>
            <a:rect b="b" l="l" r="r" t="t"/>
            <a:pathLst>
              <a:path extrusionOk="0" h="18288000" w="10287000">
                <a:moveTo>
                  <a:pt x="10287000" y="0"/>
                </a:moveTo>
                <a:lnTo>
                  <a:pt x="10287000" y="18288000"/>
                </a:lnTo>
                <a:lnTo>
                  <a:pt x="0" y="18288000"/>
                </a:lnTo>
                <a:lnTo>
                  <a:pt x="0" y="0"/>
                </a:lnTo>
                <a:lnTo>
                  <a:pt x="10287000" y="0"/>
                </a:lnTo>
                <a:close/>
              </a:path>
            </a:pathLst>
          </a:custGeom>
          <a:blipFill rotWithShape="1">
            <a:blip r:embed="rId3">
              <a:alphaModFix/>
            </a:blip>
            <a:stretch>
              <a:fillRect b="-2747" l="-71865" r="-74156" t="-363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Review score based on payment value</a:t>
            </a:r>
            <a:endParaRPr/>
          </a:p>
        </p:txBody>
      </p:sp>
      <p:sp>
        <p:nvSpPr>
          <p:cNvPr id="276" name="Google Shape;276;p29"/>
          <p:cNvSpPr txBox="1"/>
          <p:nvPr/>
        </p:nvSpPr>
        <p:spPr>
          <a:xfrm>
            <a:off x="1066800" y="3543300"/>
            <a:ext cx="7707571" cy="55399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3600">
                <a:solidFill>
                  <a:schemeClr val="dk1"/>
                </a:solidFill>
                <a:latin typeface="Calibri"/>
                <a:ea typeface="Calibri"/>
                <a:cs typeface="Calibri"/>
                <a:sym typeface="Calibri"/>
              </a:rPr>
              <a:t>Review score based on payment value</a:t>
            </a:r>
            <a:endParaRPr sz="3500" u="none">
              <a:solidFill>
                <a:srgbClr val="000000"/>
              </a:solidFill>
              <a:latin typeface="DM Sans"/>
              <a:ea typeface="DM Sans"/>
              <a:cs typeface="DM Sans"/>
              <a:sym typeface="DM Sans"/>
            </a:endParaRPr>
          </a:p>
        </p:txBody>
      </p:sp>
      <p:pic>
        <p:nvPicPr>
          <p:cNvPr id="277" name="Google Shape;277;p29"/>
          <p:cNvPicPr preferRelativeResize="0"/>
          <p:nvPr/>
        </p:nvPicPr>
        <p:blipFill rotWithShape="1">
          <a:blip r:embed="rId4">
            <a:alphaModFix/>
          </a:blip>
          <a:srcRect b="0" l="0" r="0" t="0"/>
          <a:stretch/>
        </p:blipFill>
        <p:spPr>
          <a:xfrm>
            <a:off x="8496301" y="1866900"/>
            <a:ext cx="9572625" cy="53340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30"/>
          <p:cNvSpPr/>
          <p:nvPr/>
        </p:nvSpPr>
        <p:spPr>
          <a:xfrm rot="-5400000">
            <a:off x="4000500" y="-4000500"/>
            <a:ext cx="10287000" cy="18288000"/>
          </a:xfrm>
          <a:custGeom>
            <a:rect b="b" l="l" r="r" t="t"/>
            <a:pathLst>
              <a:path extrusionOk="0" h="18288000" w="10287000">
                <a:moveTo>
                  <a:pt x="10287000" y="0"/>
                </a:moveTo>
                <a:lnTo>
                  <a:pt x="10287000" y="18288000"/>
                </a:lnTo>
                <a:lnTo>
                  <a:pt x="0" y="18288000"/>
                </a:lnTo>
                <a:lnTo>
                  <a:pt x="0" y="0"/>
                </a:lnTo>
                <a:lnTo>
                  <a:pt x="10287000" y="0"/>
                </a:lnTo>
                <a:close/>
              </a:path>
            </a:pathLst>
          </a:custGeom>
          <a:blipFill rotWithShape="1">
            <a:blip r:embed="rId3">
              <a:alphaModFix/>
            </a:blip>
            <a:stretch>
              <a:fillRect b="-2747" l="-71865" r="-74156" t="-363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Review score based on payment value</a:t>
            </a:r>
            <a:endParaRPr/>
          </a:p>
        </p:txBody>
      </p:sp>
      <p:sp>
        <p:nvSpPr>
          <p:cNvPr id="283" name="Google Shape;283;p30"/>
          <p:cNvSpPr txBox="1"/>
          <p:nvPr/>
        </p:nvSpPr>
        <p:spPr>
          <a:xfrm>
            <a:off x="1066800" y="3543300"/>
            <a:ext cx="7707571" cy="55399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3600">
                <a:solidFill>
                  <a:schemeClr val="dk1"/>
                </a:solidFill>
                <a:latin typeface="Calibri"/>
                <a:ea typeface="Calibri"/>
                <a:cs typeface="Calibri"/>
                <a:sym typeface="Calibri"/>
              </a:rPr>
              <a:t>Review score based on product price</a:t>
            </a:r>
            <a:endParaRPr sz="3500" u="none">
              <a:solidFill>
                <a:srgbClr val="000000"/>
              </a:solidFill>
              <a:latin typeface="DM Sans"/>
              <a:ea typeface="DM Sans"/>
              <a:cs typeface="DM Sans"/>
              <a:sym typeface="DM Sans"/>
            </a:endParaRPr>
          </a:p>
        </p:txBody>
      </p:sp>
      <p:pic>
        <p:nvPicPr>
          <p:cNvPr id="284" name="Google Shape;284;p30"/>
          <p:cNvPicPr preferRelativeResize="0"/>
          <p:nvPr/>
        </p:nvPicPr>
        <p:blipFill rotWithShape="1">
          <a:blip r:embed="rId4">
            <a:alphaModFix/>
          </a:blip>
          <a:srcRect b="0" l="0" r="0" t="0"/>
          <a:stretch/>
        </p:blipFill>
        <p:spPr>
          <a:xfrm>
            <a:off x="8305800" y="2095500"/>
            <a:ext cx="9572625" cy="54102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31"/>
          <p:cNvSpPr/>
          <p:nvPr/>
        </p:nvSpPr>
        <p:spPr>
          <a:xfrm rot="-5400000">
            <a:off x="4000500" y="-4000500"/>
            <a:ext cx="10287000" cy="18288000"/>
          </a:xfrm>
          <a:custGeom>
            <a:rect b="b" l="l" r="r" t="t"/>
            <a:pathLst>
              <a:path extrusionOk="0" h="18288000" w="10287000">
                <a:moveTo>
                  <a:pt x="10287000" y="0"/>
                </a:moveTo>
                <a:lnTo>
                  <a:pt x="10287000" y="18288000"/>
                </a:lnTo>
                <a:lnTo>
                  <a:pt x="0" y="18288000"/>
                </a:lnTo>
                <a:lnTo>
                  <a:pt x="0" y="0"/>
                </a:lnTo>
                <a:lnTo>
                  <a:pt x="10287000" y="0"/>
                </a:lnTo>
                <a:close/>
              </a:path>
            </a:pathLst>
          </a:custGeom>
          <a:blipFill rotWithShape="1">
            <a:blip r:embed="rId3">
              <a:alphaModFix/>
            </a:blip>
            <a:stretch>
              <a:fillRect b="-2747" l="-71865" r="-74156" t="-363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Review score based on payment value</a:t>
            </a:r>
            <a:endParaRPr/>
          </a:p>
        </p:txBody>
      </p:sp>
      <p:sp>
        <p:nvSpPr>
          <p:cNvPr id="290" name="Google Shape;290;p31"/>
          <p:cNvSpPr txBox="1"/>
          <p:nvPr/>
        </p:nvSpPr>
        <p:spPr>
          <a:xfrm>
            <a:off x="1066800" y="3543300"/>
            <a:ext cx="7707571" cy="55399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3600">
                <a:solidFill>
                  <a:schemeClr val="dk1"/>
                </a:solidFill>
                <a:latin typeface="Calibri"/>
                <a:ea typeface="Calibri"/>
                <a:cs typeface="Calibri"/>
                <a:sym typeface="Calibri"/>
              </a:rPr>
              <a:t>Review score based on freight value</a:t>
            </a:r>
            <a:endParaRPr sz="3500" u="none">
              <a:solidFill>
                <a:srgbClr val="000000"/>
              </a:solidFill>
              <a:latin typeface="DM Sans"/>
              <a:ea typeface="DM Sans"/>
              <a:cs typeface="DM Sans"/>
              <a:sym typeface="DM Sans"/>
            </a:endParaRPr>
          </a:p>
        </p:txBody>
      </p:sp>
      <p:pic>
        <p:nvPicPr>
          <p:cNvPr id="291" name="Google Shape;291;p31"/>
          <p:cNvPicPr preferRelativeResize="0"/>
          <p:nvPr/>
        </p:nvPicPr>
        <p:blipFill rotWithShape="1">
          <a:blip r:embed="rId4">
            <a:alphaModFix/>
          </a:blip>
          <a:srcRect b="0" l="0" r="0" t="0"/>
          <a:stretch/>
        </p:blipFill>
        <p:spPr>
          <a:xfrm>
            <a:off x="8382000" y="2400300"/>
            <a:ext cx="9496425" cy="5486399"/>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32"/>
          <p:cNvSpPr/>
          <p:nvPr/>
        </p:nvSpPr>
        <p:spPr>
          <a:xfrm rot="-5400000">
            <a:off x="4000500" y="-4000500"/>
            <a:ext cx="10287000" cy="18288000"/>
          </a:xfrm>
          <a:custGeom>
            <a:rect b="b" l="l" r="r" t="t"/>
            <a:pathLst>
              <a:path extrusionOk="0" h="18288000" w="10287000">
                <a:moveTo>
                  <a:pt x="10287000" y="0"/>
                </a:moveTo>
                <a:lnTo>
                  <a:pt x="10287000" y="18288000"/>
                </a:lnTo>
                <a:lnTo>
                  <a:pt x="0" y="18288000"/>
                </a:lnTo>
                <a:lnTo>
                  <a:pt x="0" y="0"/>
                </a:lnTo>
                <a:lnTo>
                  <a:pt x="10287000" y="0"/>
                </a:lnTo>
                <a:close/>
              </a:path>
            </a:pathLst>
          </a:custGeom>
          <a:blipFill rotWithShape="1">
            <a:blip r:embed="rId3">
              <a:alphaModFix/>
            </a:blip>
            <a:stretch>
              <a:fillRect b="-2747" l="-71865" r="-74156" t="-363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Review score based on payment value</a:t>
            </a:r>
            <a:endParaRPr/>
          </a:p>
        </p:txBody>
      </p:sp>
      <p:sp>
        <p:nvSpPr>
          <p:cNvPr id="297" name="Google Shape;297;p32"/>
          <p:cNvSpPr txBox="1"/>
          <p:nvPr/>
        </p:nvSpPr>
        <p:spPr>
          <a:xfrm>
            <a:off x="1066800" y="3543300"/>
            <a:ext cx="7707571" cy="55399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3600">
                <a:solidFill>
                  <a:schemeClr val="dk1"/>
                </a:solidFill>
                <a:latin typeface="Calibri"/>
                <a:ea typeface="Calibri"/>
                <a:cs typeface="Calibri"/>
                <a:sym typeface="Calibri"/>
              </a:rPr>
              <a:t>Understand the growth of Olist </a:t>
            </a:r>
            <a:endParaRPr sz="3500" u="none">
              <a:solidFill>
                <a:srgbClr val="000000"/>
              </a:solidFill>
              <a:latin typeface="DM Sans"/>
              <a:ea typeface="DM Sans"/>
              <a:cs typeface="DM Sans"/>
              <a:sym typeface="DM Sans"/>
            </a:endParaRPr>
          </a:p>
        </p:txBody>
      </p:sp>
      <p:pic>
        <p:nvPicPr>
          <p:cNvPr id="298" name="Google Shape;298;p32"/>
          <p:cNvPicPr preferRelativeResize="0"/>
          <p:nvPr/>
        </p:nvPicPr>
        <p:blipFill rotWithShape="1">
          <a:blip r:embed="rId4">
            <a:alphaModFix/>
          </a:blip>
          <a:srcRect b="0" l="0" r="0" t="0"/>
          <a:stretch/>
        </p:blipFill>
        <p:spPr>
          <a:xfrm>
            <a:off x="8208704" y="2171700"/>
            <a:ext cx="8707696" cy="60960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33"/>
          <p:cNvSpPr/>
          <p:nvPr/>
        </p:nvSpPr>
        <p:spPr>
          <a:xfrm rot="-5400000">
            <a:off x="4000500" y="-4000500"/>
            <a:ext cx="10287000" cy="18288000"/>
          </a:xfrm>
          <a:custGeom>
            <a:rect b="b" l="l" r="r" t="t"/>
            <a:pathLst>
              <a:path extrusionOk="0" h="18288000" w="10287000">
                <a:moveTo>
                  <a:pt x="10287000" y="0"/>
                </a:moveTo>
                <a:lnTo>
                  <a:pt x="10287000" y="18288000"/>
                </a:lnTo>
                <a:lnTo>
                  <a:pt x="0" y="18288000"/>
                </a:lnTo>
                <a:lnTo>
                  <a:pt x="0" y="0"/>
                </a:lnTo>
                <a:lnTo>
                  <a:pt x="10287000" y="0"/>
                </a:lnTo>
                <a:close/>
              </a:path>
            </a:pathLst>
          </a:custGeom>
          <a:blipFill rotWithShape="1">
            <a:blip r:embed="rId3">
              <a:alphaModFix/>
            </a:blip>
            <a:stretch>
              <a:fillRect b="-2747" l="-71865" r="-74156" t="-363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Review score based on payment value</a:t>
            </a:r>
            <a:endParaRPr/>
          </a:p>
        </p:txBody>
      </p:sp>
      <p:sp>
        <p:nvSpPr>
          <p:cNvPr id="304" name="Google Shape;304;p33"/>
          <p:cNvSpPr txBox="1"/>
          <p:nvPr/>
        </p:nvSpPr>
        <p:spPr>
          <a:xfrm>
            <a:off x="1066800" y="723900"/>
            <a:ext cx="7707571" cy="55399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3600">
                <a:solidFill>
                  <a:schemeClr val="dk1"/>
                </a:solidFill>
                <a:latin typeface="Calibri"/>
                <a:ea typeface="Calibri"/>
                <a:cs typeface="Calibri"/>
                <a:sym typeface="Calibri"/>
              </a:rPr>
              <a:t>Distribution of product category</a:t>
            </a:r>
            <a:endParaRPr sz="3500" u="none">
              <a:solidFill>
                <a:srgbClr val="000000"/>
              </a:solidFill>
              <a:latin typeface="DM Sans"/>
              <a:ea typeface="DM Sans"/>
              <a:cs typeface="DM Sans"/>
              <a:sym typeface="DM Sans"/>
            </a:endParaRPr>
          </a:p>
        </p:txBody>
      </p:sp>
      <p:pic>
        <p:nvPicPr>
          <p:cNvPr id="305" name="Google Shape;305;p33"/>
          <p:cNvPicPr preferRelativeResize="0"/>
          <p:nvPr/>
        </p:nvPicPr>
        <p:blipFill rotWithShape="1">
          <a:blip r:embed="rId4">
            <a:alphaModFix/>
          </a:blip>
          <a:srcRect b="0" l="0" r="0" t="0"/>
          <a:stretch/>
        </p:blipFill>
        <p:spPr>
          <a:xfrm>
            <a:off x="-1" y="2001798"/>
            <a:ext cx="18288000" cy="6770212"/>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34"/>
          <p:cNvSpPr/>
          <p:nvPr/>
        </p:nvSpPr>
        <p:spPr>
          <a:xfrm rot="-5400000">
            <a:off x="4000500" y="-4000500"/>
            <a:ext cx="10287000" cy="18288000"/>
          </a:xfrm>
          <a:custGeom>
            <a:rect b="b" l="l" r="r" t="t"/>
            <a:pathLst>
              <a:path extrusionOk="0" h="18288000" w="10287000">
                <a:moveTo>
                  <a:pt x="10287000" y="0"/>
                </a:moveTo>
                <a:lnTo>
                  <a:pt x="10287000" y="18288000"/>
                </a:lnTo>
                <a:lnTo>
                  <a:pt x="0" y="18288000"/>
                </a:lnTo>
                <a:lnTo>
                  <a:pt x="0" y="0"/>
                </a:lnTo>
                <a:lnTo>
                  <a:pt x="10287000" y="0"/>
                </a:lnTo>
                <a:close/>
              </a:path>
            </a:pathLst>
          </a:custGeom>
          <a:blipFill rotWithShape="1">
            <a:blip r:embed="rId3">
              <a:alphaModFix/>
            </a:blip>
            <a:stretch>
              <a:fillRect b="-2747" l="-71865" r="-74156" t="-363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Review score based on payment value</a:t>
            </a:r>
            <a:endParaRPr/>
          </a:p>
        </p:txBody>
      </p:sp>
      <p:sp>
        <p:nvSpPr>
          <p:cNvPr id="311" name="Google Shape;311;p34"/>
          <p:cNvSpPr txBox="1"/>
          <p:nvPr/>
        </p:nvSpPr>
        <p:spPr>
          <a:xfrm>
            <a:off x="3200400" y="2324100"/>
            <a:ext cx="7707571" cy="55399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3600">
                <a:solidFill>
                  <a:schemeClr val="dk1"/>
                </a:solidFill>
                <a:latin typeface="Calibri"/>
                <a:ea typeface="Calibri"/>
                <a:cs typeface="Calibri"/>
                <a:sym typeface="Calibri"/>
              </a:rPr>
              <a:t>Top 10 highest price category</a:t>
            </a:r>
            <a:endParaRPr sz="3500" u="none">
              <a:solidFill>
                <a:srgbClr val="000000"/>
              </a:solidFill>
              <a:latin typeface="DM Sans"/>
              <a:ea typeface="DM Sans"/>
              <a:cs typeface="DM Sans"/>
              <a:sym typeface="DM Sans"/>
            </a:endParaRPr>
          </a:p>
        </p:txBody>
      </p:sp>
      <p:pic>
        <p:nvPicPr>
          <p:cNvPr id="312" name="Google Shape;312;p34"/>
          <p:cNvPicPr preferRelativeResize="0"/>
          <p:nvPr/>
        </p:nvPicPr>
        <p:blipFill rotWithShape="1">
          <a:blip r:embed="rId4">
            <a:alphaModFix/>
          </a:blip>
          <a:srcRect b="0" l="0" r="0" t="0"/>
          <a:stretch/>
        </p:blipFill>
        <p:spPr>
          <a:xfrm>
            <a:off x="2362200" y="3330535"/>
            <a:ext cx="13182600" cy="455616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35"/>
          <p:cNvSpPr/>
          <p:nvPr/>
        </p:nvSpPr>
        <p:spPr>
          <a:xfrm rot="-5400000">
            <a:off x="4000500" y="-4000500"/>
            <a:ext cx="10287000" cy="18288000"/>
          </a:xfrm>
          <a:custGeom>
            <a:rect b="b" l="l" r="r" t="t"/>
            <a:pathLst>
              <a:path extrusionOk="0" h="18288000" w="10287000">
                <a:moveTo>
                  <a:pt x="10287000" y="0"/>
                </a:moveTo>
                <a:lnTo>
                  <a:pt x="10287000" y="18288000"/>
                </a:lnTo>
                <a:lnTo>
                  <a:pt x="0" y="18288000"/>
                </a:lnTo>
                <a:lnTo>
                  <a:pt x="0" y="0"/>
                </a:lnTo>
                <a:lnTo>
                  <a:pt x="10287000" y="0"/>
                </a:lnTo>
                <a:close/>
              </a:path>
            </a:pathLst>
          </a:custGeom>
          <a:blipFill rotWithShape="1">
            <a:blip r:embed="rId3">
              <a:alphaModFix/>
            </a:blip>
            <a:stretch>
              <a:fillRect b="-2747" l="-71865" r="-74156" t="-363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Review score based on payment value</a:t>
            </a:r>
            <a:endParaRPr/>
          </a:p>
        </p:txBody>
      </p:sp>
      <p:sp>
        <p:nvSpPr>
          <p:cNvPr id="318" name="Google Shape;318;p35"/>
          <p:cNvSpPr txBox="1"/>
          <p:nvPr/>
        </p:nvSpPr>
        <p:spPr>
          <a:xfrm>
            <a:off x="2057400" y="3086100"/>
            <a:ext cx="7707571" cy="55399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3600">
                <a:solidFill>
                  <a:schemeClr val="dk1"/>
                </a:solidFill>
                <a:latin typeface="Calibri"/>
                <a:ea typeface="Calibri"/>
                <a:cs typeface="Calibri"/>
                <a:sym typeface="Calibri"/>
              </a:rPr>
              <a:t>Top 10 product category sales </a:t>
            </a:r>
            <a:endParaRPr sz="3500" u="none">
              <a:solidFill>
                <a:srgbClr val="000000"/>
              </a:solidFill>
              <a:latin typeface="DM Sans"/>
              <a:ea typeface="DM Sans"/>
              <a:cs typeface="DM Sans"/>
              <a:sym typeface="DM Sans"/>
            </a:endParaRPr>
          </a:p>
        </p:txBody>
      </p:sp>
      <p:pic>
        <p:nvPicPr>
          <p:cNvPr id="319" name="Google Shape;319;p35"/>
          <p:cNvPicPr preferRelativeResize="0"/>
          <p:nvPr/>
        </p:nvPicPr>
        <p:blipFill rotWithShape="1">
          <a:blip r:embed="rId4">
            <a:alphaModFix/>
          </a:blip>
          <a:srcRect b="0" l="0" r="0" t="0"/>
          <a:stretch/>
        </p:blipFill>
        <p:spPr>
          <a:xfrm>
            <a:off x="8610600" y="1943100"/>
            <a:ext cx="8382000" cy="65532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36"/>
          <p:cNvSpPr/>
          <p:nvPr/>
        </p:nvSpPr>
        <p:spPr>
          <a:xfrm rot="-5400000">
            <a:off x="4000500" y="-4000500"/>
            <a:ext cx="10287000" cy="18288000"/>
          </a:xfrm>
          <a:custGeom>
            <a:rect b="b" l="l" r="r" t="t"/>
            <a:pathLst>
              <a:path extrusionOk="0" h="18288000" w="10287000">
                <a:moveTo>
                  <a:pt x="10287000" y="0"/>
                </a:moveTo>
                <a:lnTo>
                  <a:pt x="10287000" y="18288000"/>
                </a:lnTo>
                <a:lnTo>
                  <a:pt x="0" y="18288000"/>
                </a:lnTo>
                <a:lnTo>
                  <a:pt x="0" y="0"/>
                </a:lnTo>
                <a:lnTo>
                  <a:pt x="10287000" y="0"/>
                </a:lnTo>
                <a:close/>
              </a:path>
            </a:pathLst>
          </a:custGeom>
          <a:blipFill rotWithShape="1">
            <a:blip r:embed="rId3">
              <a:alphaModFix/>
            </a:blip>
            <a:stretch>
              <a:fillRect b="-2747" l="-71865" r="-74156" t="-363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5" name="Google Shape;325;p36"/>
          <p:cNvSpPr txBox="1"/>
          <p:nvPr/>
        </p:nvSpPr>
        <p:spPr>
          <a:xfrm>
            <a:off x="1436428" y="184439"/>
            <a:ext cx="7707571" cy="55399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3600">
                <a:solidFill>
                  <a:schemeClr val="dk1"/>
                </a:solidFill>
                <a:latin typeface="Calibri"/>
                <a:ea typeface="Calibri"/>
                <a:cs typeface="Calibri"/>
                <a:sym typeface="Calibri"/>
              </a:rPr>
              <a:t>Top 10 product categories in review score</a:t>
            </a:r>
            <a:endParaRPr sz="3500" u="none">
              <a:solidFill>
                <a:srgbClr val="000000"/>
              </a:solidFill>
              <a:latin typeface="DM Sans"/>
              <a:ea typeface="DM Sans"/>
              <a:cs typeface="DM Sans"/>
              <a:sym typeface="DM Sans"/>
            </a:endParaRPr>
          </a:p>
        </p:txBody>
      </p:sp>
      <p:pic>
        <p:nvPicPr>
          <p:cNvPr id="326" name="Google Shape;326;p36"/>
          <p:cNvPicPr preferRelativeResize="0"/>
          <p:nvPr/>
        </p:nvPicPr>
        <p:blipFill rotWithShape="1">
          <a:blip r:embed="rId4">
            <a:alphaModFix/>
          </a:blip>
          <a:srcRect b="0" l="0" r="0" t="0"/>
          <a:stretch/>
        </p:blipFill>
        <p:spPr>
          <a:xfrm>
            <a:off x="0" y="971550"/>
            <a:ext cx="18288000" cy="8653987"/>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37"/>
          <p:cNvSpPr/>
          <p:nvPr/>
        </p:nvSpPr>
        <p:spPr>
          <a:xfrm rot="-5400000">
            <a:off x="4000500" y="-4000500"/>
            <a:ext cx="10287000" cy="18288000"/>
          </a:xfrm>
          <a:custGeom>
            <a:rect b="b" l="l" r="r" t="t"/>
            <a:pathLst>
              <a:path extrusionOk="0" h="18288000" w="10287000">
                <a:moveTo>
                  <a:pt x="10287000" y="0"/>
                </a:moveTo>
                <a:lnTo>
                  <a:pt x="10287000" y="18288000"/>
                </a:lnTo>
                <a:lnTo>
                  <a:pt x="0" y="18288000"/>
                </a:lnTo>
                <a:lnTo>
                  <a:pt x="0" y="0"/>
                </a:lnTo>
                <a:lnTo>
                  <a:pt x="10287000" y="0"/>
                </a:lnTo>
                <a:close/>
              </a:path>
            </a:pathLst>
          </a:custGeom>
          <a:blipFill rotWithShape="1">
            <a:blip r:embed="rId3">
              <a:alphaModFix/>
            </a:blip>
            <a:stretch>
              <a:fillRect b="-2747" l="-71865" r="-74156" t="-363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2" name="Google Shape;332;p37"/>
          <p:cNvSpPr txBox="1"/>
          <p:nvPr/>
        </p:nvSpPr>
        <p:spPr>
          <a:xfrm>
            <a:off x="2286000" y="3162300"/>
            <a:ext cx="7707571" cy="55399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3600">
                <a:solidFill>
                  <a:schemeClr val="dk1"/>
                </a:solidFill>
                <a:latin typeface="Calibri"/>
                <a:ea typeface="Calibri"/>
                <a:cs typeface="Calibri"/>
                <a:sym typeface="Calibri"/>
              </a:rPr>
              <a:t>Arrival Time vs review score</a:t>
            </a:r>
            <a:endParaRPr sz="3500" u="none">
              <a:solidFill>
                <a:srgbClr val="000000"/>
              </a:solidFill>
              <a:latin typeface="DM Sans"/>
              <a:ea typeface="DM Sans"/>
              <a:cs typeface="DM Sans"/>
              <a:sym typeface="DM Sans"/>
            </a:endParaRPr>
          </a:p>
        </p:txBody>
      </p:sp>
      <p:pic>
        <p:nvPicPr>
          <p:cNvPr id="333" name="Google Shape;333;p37"/>
          <p:cNvPicPr preferRelativeResize="0"/>
          <p:nvPr/>
        </p:nvPicPr>
        <p:blipFill rotWithShape="1">
          <a:blip r:embed="rId4">
            <a:alphaModFix/>
          </a:blip>
          <a:srcRect b="0" l="0" r="0" t="0"/>
          <a:stretch/>
        </p:blipFill>
        <p:spPr>
          <a:xfrm>
            <a:off x="8305800" y="1181100"/>
            <a:ext cx="8477250" cy="77343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38"/>
          <p:cNvSpPr/>
          <p:nvPr/>
        </p:nvSpPr>
        <p:spPr>
          <a:xfrm rot="-5400000">
            <a:off x="4000500" y="-4000500"/>
            <a:ext cx="10287000" cy="18288000"/>
          </a:xfrm>
          <a:custGeom>
            <a:rect b="b" l="l" r="r" t="t"/>
            <a:pathLst>
              <a:path extrusionOk="0" h="18288000" w="10287000">
                <a:moveTo>
                  <a:pt x="10287000" y="0"/>
                </a:moveTo>
                <a:lnTo>
                  <a:pt x="10287000" y="18288000"/>
                </a:lnTo>
                <a:lnTo>
                  <a:pt x="0" y="18288000"/>
                </a:lnTo>
                <a:lnTo>
                  <a:pt x="0" y="0"/>
                </a:lnTo>
                <a:lnTo>
                  <a:pt x="10287000" y="0"/>
                </a:lnTo>
                <a:close/>
              </a:path>
            </a:pathLst>
          </a:custGeom>
          <a:blipFill rotWithShape="1">
            <a:blip r:embed="rId3">
              <a:alphaModFix/>
            </a:blip>
            <a:stretch>
              <a:fillRect b="-2747" l="-71865" r="-74156" t="-363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9" name="Google Shape;339;p38"/>
          <p:cNvSpPr txBox="1"/>
          <p:nvPr/>
        </p:nvSpPr>
        <p:spPr>
          <a:xfrm>
            <a:off x="1981200" y="952500"/>
            <a:ext cx="7707571" cy="55399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3600">
                <a:solidFill>
                  <a:schemeClr val="dk1"/>
                </a:solidFill>
                <a:latin typeface="Calibri"/>
                <a:ea typeface="Calibri"/>
                <a:cs typeface="Calibri"/>
                <a:sym typeface="Calibri"/>
              </a:rPr>
              <a:t>Arrival Time vs review score</a:t>
            </a:r>
            <a:endParaRPr sz="3500" u="none">
              <a:solidFill>
                <a:srgbClr val="000000"/>
              </a:solidFill>
              <a:latin typeface="DM Sans"/>
              <a:ea typeface="DM Sans"/>
              <a:cs typeface="DM Sans"/>
              <a:sym typeface="DM Sans"/>
            </a:endParaRPr>
          </a:p>
        </p:txBody>
      </p:sp>
      <p:pic>
        <p:nvPicPr>
          <p:cNvPr id="340" name="Google Shape;340;p38"/>
          <p:cNvPicPr preferRelativeResize="0"/>
          <p:nvPr/>
        </p:nvPicPr>
        <p:blipFill rotWithShape="1">
          <a:blip r:embed="rId4">
            <a:alphaModFix/>
          </a:blip>
          <a:srcRect b="0" l="0" r="0" t="0"/>
          <a:stretch/>
        </p:blipFill>
        <p:spPr>
          <a:xfrm>
            <a:off x="990600" y="2005012"/>
            <a:ext cx="15316200" cy="627697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39"/>
          <p:cNvSpPr/>
          <p:nvPr/>
        </p:nvSpPr>
        <p:spPr>
          <a:xfrm rot="-5400000">
            <a:off x="3967162" y="-3981450"/>
            <a:ext cx="10287000" cy="18288000"/>
          </a:xfrm>
          <a:custGeom>
            <a:rect b="b" l="l" r="r" t="t"/>
            <a:pathLst>
              <a:path extrusionOk="0" h="18288000" w="10287000">
                <a:moveTo>
                  <a:pt x="10287000" y="0"/>
                </a:moveTo>
                <a:lnTo>
                  <a:pt x="10287000" y="18288000"/>
                </a:lnTo>
                <a:lnTo>
                  <a:pt x="0" y="18288000"/>
                </a:lnTo>
                <a:lnTo>
                  <a:pt x="0" y="0"/>
                </a:lnTo>
                <a:lnTo>
                  <a:pt x="10287000" y="0"/>
                </a:lnTo>
                <a:close/>
              </a:path>
            </a:pathLst>
          </a:custGeom>
          <a:blipFill rotWithShape="1">
            <a:blip r:embed="rId3">
              <a:alphaModFix/>
            </a:blip>
            <a:stretch>
              <a:fillRect b="-2747" l="-71865" r="-74156" t="-363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6" name="Google Shape;346;p39"/>
          <p:cNvSpPr txBox="1"/>
          <p:nvPr/>
        </p:nvSpPr>
        <p:spPr>
          <a:xfrm>
            <a:off x="1447800" y="190500"/>
            <a:ext cx="15240000" cy="55399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3600">
                <a:solidFill>
                  <a:schemeClr val="dk1"/>
                </a:solidFill>
                <a:latin typeface="Calibri"/>
                <a:ea typeface="Calibri"/>
                <a:cs typeface="Calibri"/>
                <a:sym typeface="Calibri"/>
              </a:rPr>
              <a:t>Correlation plot – comparing relations between different factors</a:t>
            </a:r>
            <a:endParaRPr sz="3500" u="none">
              <a:solidFill>
                <a:srgbClr val="000000"/>
              </a:solidFill>
              <a:latin typeface="DM Sans"/>
              <a:ea typeface="DM Sans"/>
              <a:cs typeface="DM Sans"/>
              <a:sym typeface="DM Sans"/>
            </a:endParaRPr>
          </a:p>
        </p:txBody>
      </p:sp>
      <p:pic>
        <p:nvPicPr>
          <p:cNvPr id="347" name="Google Shape;347;p39"/>
          <p:cNvPicPr preferRelativeResize="0"/>
          <p:nvPr/>
        </p:nvPicPr>
        <p:blipFill rotWithShape="1">
          <a:blip r:embed="rId4">
            <a:alphaModFix/>
          </a:blip>
          <a:srcRect b="0" l="0" r="0" t="0"/>
          <a:stretch/>
        </p:blipFill>
        <p:spPr>
          <a:xfrm>
            <a:off x="1219200" y="915948"/>
            <a:ext cx="15925800" cy="9042439"/>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40"/>
          <p:cNvSpPr/>
          <p:nvPr/>
        </p:nvSpPr>
        <p:spPr>
          <a:xfrm rot="-5400000">
            <a:off x="4000500" y="-4000500"/>
            <a:ext cx="10287000" cy="18288000"/>
          </a:xfrm>
          <a:custGeom>
            <a:rect b="b" l="l" r="r" t="t"/>
            <a:pathLst>
              <a:path extrusionOk="0" h="18288000" w="10287000">
                <a:moveTo>
                  <a:pt x="10287000" y="0"/>
                </a:moveTo>
                <a:lnTo>
                  <a:pt x="10287000" y="18288000"/>
                </a:lnTo>
                <a:lnTo>
                  <a:pt x="0" y="18288000"/>
                </a:lnTo>
                <a:lnTo>
                  <a:pt x="0" y="0"/>
                </a:lnTo>
                <a:lnTo>
                  <a:pt x="10287000" y="0"/>
                </a:lnTo>
                <a:close/>
              </a:path>
            </a:pathLst>
          </a:custGeom>
          <a:blipFill rotWithShape="1">
            <a:blip r:embed="rId3">
              <a:alphaModFix/>
            </a:blip>
            <a:stretch>
              <a:fillRect b="-2747" l="-71865" r="-74156" t="-363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3" name="Google Shape;353;p40"/>
          <p:cNvSpPr/>
          <p:nvPr/>
        </p:nvSpPr>
        <p:spPr>
          <a:xfrm>
            <a:off x="10078075" y="1267971"/>
            <a:ext cx="4208573" cy="4247184"/>
          </a:xfrm>
          <a:custGeom>
            <a:rect b="b" l="l" r="r" t="t"/>
            <a:pathLst>
              <a:path extrusionOk="0" h="4247184" w="4208573">
                <a:moveTo>
                  <a:pt x="0" y="0"/>
                </a:moveTo>
                <a:lnTo>
                  <a:pt x="4208574" y="0"/>
                </a:lnTo>
                <a:lnTo>
                  <a:pt x="4208574" y="4247184"/>
                </a:lnTo>
                <a:lnTo>
                  <a:pt x="0" y="4247184"/>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4" name="Google Shape;354;p40"/>
          <p:cNvSpPr txBox="1"/>
          <p:nvPr/>
        </p:nvSpPr>
        <p:spPr>
          <a:xfrm>
            <a:off x="1504950" y="2345718"/>
            <a:ext cx="10534650" cy="1166538"/>
          </a:xfrm>
          <a:prstGeom prst="rect">
            <a:avLst/>
          </a:prstGeom>
          <a:noFill/>
          <a:ln>
            <a:noFill/>
          </a:ln>
        </p:spPr>
        <p:txBody>
          <a:bodyPr anchorCtr="0" anchor="t" bIns="0" lIns="0" spcFirstLastPara="1" rIns="0" wrap="square" tIns="0">
            <a:spAutoFit/>
          </a:bodyPr>
          <a:lstStyle/>
          <a:p>
            <a:pPr indent="0" lvl="0" marL="0" marR="0" rtl="0" algn="l">
              <a:lnSpc>
                <a:spcPct val="97000"/>
              </a:lnSpc>
              <a:spcBef>
                <a:spcPts val="0"/>
              </a:spcBef>
              <a:spcAft>
                <a:spcPts val="0"/>
              </a:spcAft>
              <a:buNone/>
            </a:pPr>
            <a:r>
              <a:rPr b="1" lang="en-US" sz="9000">
                <a:solidFill>
                  <a:srgbClr val="000000"/>
                </a:solidFill>
                <a:latin typeface="DM Sans"/>
                <a:ea typeface="DM Sans"/>
                <a:cs typeface="DM Sans"/>
                <a:sym typeface="DM Sans"/>
              </a:rPr>
              <a:t>Association Rules</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41"/>
          <p:cNvSpPr/>
          <p:nvPr/>
        </p:nvSpPr>
        <p:spPr>
          <a:xfrm rot="-5400000">
            <a:off x="4000500" y="-4000500"/>
            <a:ext cx="10287000" cy="18288000"/>
          </a:xfrm>
          <a:custGeom>
            <a:rect b="b" l="l" r="r" t="t"/>
            <a:pathLst>
              <a:path extrusionOk="0" h="18288000" w="10287000">
                <a:moveTo>
                  <a:pt x="10287000" y="0"/>
                </a:moveTo>
                <a:lnTo>
                  <a:pt x="10287000" y="18288000"/>
                </a:lnTo>
                <a:lnTo>
                  <a:pt x="0" y="18288000"/>
                </a:lnTo>
                <a:lnTo>
                  <a:pt x="0" y="0"/>
                </a:lnTo>
                <a:lnTo>
                  <a:pt x="10287000" y="0"/>
                </a:lnTo>
                <a:close/>
              </a:path>
            </a:pathLst>
          </a:custGeom>
          <a:blipFill rotWithShape="1">
            <a:blip r:embed="rId3">
              <a:alphaModFix/>
            </a:blip>
            <a:stretch>
              <a:fillRect b="-2747" l="-71865" r="-74156" t="-363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Review score based on payment value</a:t>
            </a:r>
            <a:endParaRPr/>
          </a:p>
        </p:txBody>
      </p:sp>
      <p:sp>
        <p:nvSpPr>
          <p:cNvPr id="360" name="Google Shape;360;p41"/>
          <p:cNvSpPr txBox="1"/>
          <p:nvPr/>
        </p:nvSpPr>
        <p:spPr>
          <a:xfrm>
            <a:off x="1066800" y="3543300"/>
            <a:ext cx="7707571" cy="55399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3600">
                <a:solidFill>
                  <a:schemeClr val="dk1"/>
                </a:solidFill>
                <a:latin typeface="Calibri"/>
                <a:ea typeface="Calibri"/>
                <a:cs typeface="Calibri"/>
                <a:sym typeface="Calibri"/>
              </a:rPr>
              <a:t>Items with highest support </a:t>
            </a:r>
            <a:endParaRPr sz="3500" u="none">
              <a:solidFill>
                <a:srgbClr val="000000"/>
              </a:solidFill>
              <a:latin typeface="DM Sans"/>
              <a:ea typeface="DM Sans"/>
              <a:cs typeface="DM Sans"/>
              <a:sym typeface="DM Sans"/>
            </a:endParaRPr>
          </a:p>
        </p:txBody>
      </p:sp>
      <p:pic>
        <p:nvPicPr>
          <p:cNvPr id="361" name="Google Shape;361;p41"/>
          <p:cNvPicPr preferRelativeResize="0"/>
          <p:nvPr/>
        </p:nvPicPr>
        <p:blipFill rotWithShape="1">
          <a:blip r:embed="rId4">
            <a:alphaModFix/>
          </a:blip>
          <a:srcRect b="0" l="0" r="0" t="0"/>
          <a:stretch/>
        </p:blipFill>
        <p:spPr>
          <a:xfrm>
            <a:off x="7391400" y="2476500"/>
            <a:ext cx="9448799" cy="44958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42"/>
          <p:cNvSpPr/>
          <p:nvPr/>
        </p:nvSpPr>
        <p:spPr>
          <a:xfrm rot="-5400000">
            <a:off x="4000500" y="-4000500"/>
            <a:ext cx="10287000" cy="18288000"/>
          </a:xfrm>
          <a:custGeom>
            <a:rect b="b" l="l" r="r" t="t"/>
            <a:pathLst>
              <a:path extrusionOk="0" h="18288000" w="10287000">
                <a:moveTo>
                  <a:pt x="10287000" y="0"/>
                </a:moveTo>
                <a:lnTo>
                  <a:pt x="10287000" y="18288000"/>
                </a:lnTo>
                <a:lnTo>
                  <a:pt x="0" y="18288000"/>
                </a:lnTo>
                <a:lnTo>
                  <a:pt x="0" y="0"/>
                </a:lnTo>
                <a:lnTo>
                  <a:pt x="10287000" y="0"/>
                </a:lnTo>
                <a:close/>
              </a:path>
            </a:pathLst>
          </a:custGeom>
          <a:blipFill rotWithShape="1">
            <a:blip r:embed="rId3">
              <a:alphaModFix/>
            </a:blip>
            <a:stretch>
              <a:fillRect b="-2747" l="-71865" r="-74156" t="-363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67" name="Google Shape;367;p42"/>
          <p:cNvGrpSpPr/>
          <p:nvPr/>
        </p:nvGrpSpPr>
        <p:grpSpPr>
          <a:xfrm>
            <a:off x="11672059" y="958335"/>
            <a:ext cx="5587239" cy="2765962"/>
            <a:chOff x="0" y="-38100"/>
            <a:chExt cx="2065940" cy="1022743"/>
          </a:xfrm>
        </p:grpSpPr>
        <p:sp>
          <p:nvSpPr>
            <p:cNvPr id="368" name="Google Shape;368;p42"/>
            <p:cNvSpPr/>
            <p:nvPr/>
          </p:nvSpPr>
          <p:spPr>
            <a:xfrm>
              <a:off x="0" y="0"/>
              <a:ext cx="2065940" cy="984643"/>
            </a:xfrm>
            <a:custGeom>
              <a:rect b="b" l="l" r="r" t="t"/>
              <a:pathLst>
                <a:path extrusionOk="0" h="984643" w="2065940">
                  <a:moveTo>
                    <a:pt x="20785" y="0"/>
                  </a:moveTo>
                  <a:lnTo>
                    <a:pt x="2045156" y="0"/>
                  </a:lnTo>
                  <a:cubicBezTo>
                    <a:pt x="2056635" y="0"/>
                    <a:pt x="2065940" y="9306"/>
                    <a:pt x="2065940" y="20785"/>
                  </a:cubicBezTo>
                  <a:lnTo>
                    <a:pt x="2065940" y="963859"/>
                  </a:lnTo>
                  <a:cubicBezTo>
                    <a:pt x="2065940" y="975338"/>
                    <a:pt x="2056635" y="984643"/>
                    <a:pt x="2045156" y="984643"/>
                  </a:cubicBezTo>
                  <a:lnTo>
                    <a:pt x="20785" y="984643"/>
                  </a:lnTo>
                  <a:cubicBezTo>
                    <a:pt x="9306" y="984643"/>
                    <a:pt x="0" y="975338"/>
                    <a:pt x="0" y="963859"/>
                  </a:cubicBezTo>
                  <a:lnTo>
                    <a:pt x="0" y="20785"/>
                  </a:lnTo>
                  <a:cubicBezTo>
                    <a:pt x="0" y="9306"/>
                    <a:pt x="9306" y="0"/>
                    <a:pt x="20785" y="0"/>
                  </a:cubicBezTo>
                  <a:close/>
                </a:path>
              </a:pathLst>
            </a:custGeom>
            <a:solidFill>
              <a:srgbClr val="8AB7E2"/>
            </a:solidFill>
            <a:ln cap="sq" cmpd="sng" w="9525">
              <a:solidFill>
                <a:srgbClr val="00000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9" name="Google Shape;369;p42"/>
            <p:cNvSpPr txBox="1"/>
            <p:nvPr/>
          </p:nvSpPr>
          <p:spPr>
            <a:xfrm>
              <a:off x="0" y="-38100"/>
              <a:ext cx="2065940" cy="102274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70" name="Google Shape;370;p42"/>
          <p:cNvGrpSpPr/>
          <p:nvPr/>
        </p:nvGrpSpPr>
        <p:grpSpPr>
          <a:xfrm>
            <a:off x="11672061" y="3705591"/>
            <a:ext cx="5587239" cy="2765962"/>
            <a:chOff x="0" y="-38100"/>
            <a:chExt cx="2065940" cy="1022743"/>
          </a:xfrm>
        </p:grpSpPr>
        <p:sp>
          <p:nvSpPr>
            <p:cNvPr id="371" name="Google Shape;371;p42"/>
            <p:cNvSpPr/>
            <p:nvPr/>
          </p:nvSpPr>
          <p:spPr>
            <a:xfrm>
              <a:off x="0" y="0"/>
              <a:ext cx="2065940" cy="984643"/>
            </a:xfrm>
            <a:custGeom>
              <a:rect b="b" l="l" r="r" t="t"/>
              <a:pathLst>
                <a:path extrusionOk="0" h="984643" w="2065940">
                  <a:moveTo>
                    <a:pt x="20785" y="0"/>
                  </a:moveTo>
                  <a:lnTo>
                    <a:pt x="2045156" y="0"/>
                  </a:lnTo>
                  <a:cubicBezTo>
                    <a:pt x="2056635" y="0"/>
                    <a:pt x="2065940" y="9306"/>
                    <a:pt x="2065940" y="20785"/>
                  </a:cubicBezTo>
                  <a:lnTo>
                    <a:pt x="2065940" y="963859"/>
                  </a:lnTo>
                  <a:cubicBezTo>
                    <a:pt x="2065940" y="975338"/>
                    <a:pt x="2056635" y="984643"/>
                    <a:pt x="2045156" y="984643"/>
                  </a:cubicBezTo>
                  <a:lnTo>
                    <a:pt x="20785" y="984643"/>
                  </a:lnTo>
                  <a:cubicBezTo>
                    <a:pt x="9306" y="984643"/>
                    <a:pt x="0" y="975338"/>
                    <a:pt x="0" y="963859"/>
                  </a:cubicBezTo>
                  <a:lnTo>
                    <a:pt x="0" y="20785"/>
                  </a:lnTo>
                  <a:cubicBezTo>
                    <a:pt x="0" y="9306"/>
                    <a:pt x="9306" y="0"/>
                    <a:pt x="20785" y="0"/>
                  </a:cubicBezTo>
                  <a:close/>
                </a:path>
              </a:pathLst>
            </a:custGeom>
            <a:solidFill>
              <a:srgbClr val="8AB7E2"/>
            </a:solidFill>
            <a:ln cap="sq" cmpd="sng" w="9525">
              <a:solidFill>
                <a:srgbClr val="00000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2" name="Google Shape;372;p42"/>
            <p:cNvSpPr txBox="1"/>
            <p:nvPr/>
          </p:nvSpPr>
          <p:spPr>
            <a:xfrm>
              <a:off x="0" y="-38100"/>
              <a:ext cx="2065940" cy="102274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73" name="Google Shape;373;p42"/>
          <p:cNvGrpSpPr/>
          <p:nvPr/>
        </p:nvGrpSpPr>
        <p:grpSpPr>
          <a:xfrm>
            <a:off x="11672061" y="6492338"/>
            <a:ext cx="5587239" cy="2765962"/>
            <a:chOff x="0" y="-38100"/>
            <a:chExt cx="2065940" cy="1022743"/>
          </a:xfrm>
        </p:grpSpPr>
        <p:sp>
          <p:nvSpPr>
            <p:cNvPr id="374" name="Google Shape;374;p42"/>
            <p:cNvSpPr/>
            <p:nvPr/>
          </p:nvSpPr>
          <p:spPr>
            <a:xfrm>
              <a:off x="0" y="0"/>
              <a:ext cx="2065940" cy="984643"/>
            </a:xfrm>
            <a:custGeom>
              <a:rect b="b" l="l" r="r" t="t"/>
              <a:pathLst>
                <a:path extrusionOk="0" h="984643" w="2065940">
                  <a:moveTo>
                    <a:pt x="20785" y="0"/>
                  </a:moveTo>
                  <a:lnTo>
                    <a:pt x="2045156" y="0"/>
                  </a:lnTo>
                  <a:cubicBezTo>
                    <a:pt x="2056635" y="0"/>
                    <a:pt x="2065940" y="9306"/>
                    <a:pt x="2065940" y="20785"/>
                  </a:cubicBezTo>
                  <a:lnTo>
                    <a:pt x="2065940" y="963859"/>
                  </a:lnTo>
                  <a:cubicBezTo>
                    <a:pt x="2065940" y="975338"/>
                    <a:pt x="2056635" y="984643"/>
                    <a:pt x="2045156" y="984643"/>
                  </a:cubicBezTo>
                  <a:lnTo>
                    <a:pt x="20785" y="984643"/>
                  </a:lnTo>
                  <a:cubicBezTo>
                    <a:pt x="9306" y="984643"/>
                    <a:pt x="0" y="975338"/>
                    <a:pt x="0" y="963859"/>
                  </a:cubicBezTo>
                  <a:lnTo>
                    <a:pt x="0" y="20785"/>
                  </a:lnTo>
                  <a:cubicBezTo>
                    <a:pt x="0" y="9306"/>
                    <a:pt x="9306" y="0"/>
                    <a:pt x="20785" y="0"/>
                  </a:cubicBezTo>
                  <a:close/>
                </a:path>
              </a:pathLst>
            </a:custGeom>
            <a:solidFill>
              <a:srgbClr val="8AB7E2"/>
            </a:solidFill>
            <a:ln cap="sq" cmpd="sng" w="9525">
              <a:solidFill>
                <a:srgbClr val="00000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5" name="Google Shape;375;p42"/>
            <p:cNvSpPr txBox="1"/>
            <p:nvPr/>
          </p:nvSpPr>
          <p:spPr>
            <a:xfrm>
              <a:off x="0" y="-38100"/>
              <a:ext cx="2065940" cy="102274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76" name="Google Shape;376;p42"/>
          <p:cNvGrpSpPr/>
          <p:nvPr/>
        </p:nvGrpSpPr>
        <p:grpSpPr>
          <a:xfrm>
            <a:off x="1028700" y="958335"/>
            <a:ext cx="5587239" cy="2765962"/>
            <a:chOff x="0" y="-38100"/>
            <a:chExt cx="2065940" cy="1022743"/>
          </a:xfrm>
        </p:grpSpPr>
        <p:sp>
          <p:nvSpPr>
            <p:cNvPr id="377" name="Google Shape;377;p42"/>
            <p:cNvSpPr/>
            <p:nvPr/>
          </p:nvSpPr>
          <p:spPr>
            <a:xfrm>
              <a:off x="0" y="0"/>
              <a:ext cx="2065940" cy="984643"/>
            </a:xfrm>
            <a:custGeom>
              <a:rect b="b" l="l" r="r" t="t"/>
              <a:pathLst>
                <a:path extrusionOk="0" h="984643" w="2065940">
                  <a:moveTo>
                    <a:pt x="20785" y="0"/>
                  </a:moveTo>
                  <a:lnTo>
                    <a:pt x="2045156" y="0"/>
                  </a:lnTo>
                  <a:cubicBezTo>
                    <a:pt x="2056635" y="0"/>
                    <a:pt x="2065940" y="9306"/>
                    <a:pt x="2065940" y="20785"/>
                  </a:cubicBezTo>
                  <a:lnTo>
                    <a:pt x="2065940" y="963859"/>
                  </a:lnTo>
                  <a:cubicBezTo>
                    <a:pt x="2065940" y="975338"/>
                    <a:pt x="2056635" y="984643"/>
                    <a:pt x="2045156" y="984643"/>
                  </a:cubicBezTo>
                  <a:lnTo>
                    <a:pt x="20785" y="984643"/>
                  </a:lnTo>
                  <a:cubicBezTo>
                    <a:pt x="9306" y="984643"/>
                    <a:pt x="0" y="975338"/>
                    <a:pt x="0" y="963859"/>
                  </a:cubicBezTo>
                  <a:lnTo>
                    <a:pt x="0" y="20785"/>
                  </a:lnTo>
                  <a:cubicBezTo>
                    <a:pt x="0" y="9306"/>
                    <a:pt x="9306" y="0"/>
                    <a:pt x="20785" y="0"/>
                  </a:cubicBezTo>
                  <a:close/>
                </a:path>
              </a:pathLst>
            </a:custGeom>
            <a:solidFill>
              <a:srgbClr val="8AB7E2"/>
            </a:solidFill>
            <a:ln cap="sq" cmpd="sng" w="9525">
              <a:solidFill>
                <a:srgbClr val="00000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8" name="Google Shape;378;p42"/>
            <p:cNvSpPr txBox="1"/>
            <p:nvPr/>
          </p:nvSpPr>
          <p:spPr>
            <a:xfrm>
              <a:off x="0" y="-38100"/>
              <a:ext cx="2065940" cy="102274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79" name="Google Shape;379;p42"/>
          <p:cNvGrpSpPr/>
          <p:nvPr/>
        </p:nvGrpSpPr>
        <p:grpSpPr>
          <a:xfrm>
            <a:off x="1028700" y="3708999"/>
            <a:ext cx="5587239" cy="2765962"/>
            <a:chOff x="0" y="-38100"/>
            <a:chExt cx="2065940" cy="1022743"/>
          </a:xfrm>
        </p:grpSpPr>
        <p:sp>
          <p:nvSpPr>
            <p:cNvPr id="380" name="Google Shape;380;p42"/>
            <p:cNvSpPr/>
            <p:nvPr/>
          </p:nvSpPr>
          <p:spPr>
            <a:xfrm>
              <a:off x="0" y="0"/>
              <a:ext cx="2065940" cy="984643"/>
            </a:xfrm>
            <a:custGeom>
              <a:rect b="b" l="l" r="r" t="t"/>
              <a:pathLst>
                <a:path extrusionOk="0" h="984643" w="2065940">
                  <a:moveTo>
                    <a:pt x="20785" y="0"/>
                  </a:moveTo>
                  <a:lnTo>
                    <a:pt x="2045156" y="0"/>
                  </a:lnTo>
                  <a:cubicBezTo>
                    <a:pt x="2056635" y="0"/>
                    <a:pt x="2065940" y="9306"/>
                    <a:pt x="2065940" y="20785"/>
                  </a:cubicBezTo>
                  <a:lnTo>
                    <a:pt x="2065940" y="963859"/>
                  </a:lnTo>
                  <a:cubicBezTo>
                    <a:pt x="2065940" y="975338"/>
                    <a:pt x="2056635" y="984643"/>
                    <a:pt x="2045156" y="984643"/>
                  </a:cubicBezTo>
                  <a:lnTo>
                    <a:pt x="20785" y="984643"/>
                  </a:lnTo>
                  <a:cubicBezTo>
                    <a:pt x="9306" y="984643"/>
                    <a:pt x="0" y="975338"/>
                    <a:pt x="0" y="963859"/>
                  </a:cubicBezTo>
                  <a:lnTo>
                    <a:pt x="0" y="20785"/>
                  </a:lnTo>
                  <a:cubicBezTo>
                    <a:pt x="0" y="9306"/>
                    <a:pt x="9306" y="0"/>
                    <a:pt x="20785" y="0"/>
                  </a:cubicBezTo>
                  <a:close/>
                </a:path>
              </a:pathLst>
            </a:custGeom>
            <a:solidFill>
              <a:srgbClr val="8AB7E2"/>
            </a:solidFill>
            <a:ln cap="sq" cmpd="sng" w="9525">
              <a:solidFill>
                <a:srgbClr val="00000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1" name="Google Shape;381;p42"/>
            <p:cNvSpPr txBox="1"/>
            <p:nvPr/>
          </p:nvSpPr>
          <p:spPr>
            <a:xfrm>
              <a:off x="0" y="-38100"/>
              <a:ext cx="2065940" cy="102274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82" name="Google Shape;382;p42"/>
          <p:cNvGrpSpPr/>
          <p:nvPr/>
        </p:nvGrpSpPr>
        <p:grpSpPr>
          <a:xfrm>
            <a:off x="1028700" y="6495746"/>
            <a:ext cx="5587239" cy="2765962"/>
            <a:chOff x="0" y="-38100"/>
            <a:chExt cx="2065940" cy="1022743"/>
          </a:xfrm>
        </p:grpSpPr>
        <p:sp>
          <p:nvSpPr>
            <p:cNvPr id="383" name="Google Shape;383;p42"/>
            <p:cNvSpPr/>
            <p:nvPr/>
          </p:nvSpPr>
          <p:spPr>
            <a:xfrm>
              <a:off x="0" y="0"/>
              <a:ext cx="2065940" cy="984643"/>
            </a:xfrm>
            <a:custGeom>
              <a:rect b="b" l="l" r="r" t="t"/>
              <a:pathLst>
                <a:path extrusionOk="0" h="984643" w="2065940">
                  <a:moveTo>
                    <a:pt x="20785" y="0"/>
                  </a:moveTo>
                  <a:lnTo>
                    <a:pt x="2045156" y="0"/>
                  </a:lnTo>
                  <a:cubicBezTo>
                    <a:pt x="2056635" y="0"/>
                    <a:pt x="2065940" y="9306"/>
                    <a:pt x="2065940" y="20785"/>
                  </a:cubicBezTo>
                  <a:lnTo>
                    <a:pt x="2065940" y="963859"/>
                  </a:lnTo>
                  <a:cubicBezTo>
                    <a:pt x="2065940" y="975338"/>
                    <a:pt x="2056635" y="984643"/>
                    <a:pt x="2045156" y="984643"/>
                  </a:cubicBezTo>
                  <a:lnTo>
                    <a:pt x="20785" y="984643"/>
                  </a:lnTo>
                  <a:cubicBezTo>
                    <a:pt x="9306" y="984643"/>
                    <a:pt x="0" y="975338"/>
                    <a:pt x="0" y="963859"/>
                  </a:cubicBezTo>
                  <a:lnTo>
                    <a:pt x="0" y="20785"/>
                  </a:lnTo>
                  <a:cubicBezTo>
                    <a:pt x="0" y="9306"/>
                    <a:pt x="9306" y="0"/>
                    <a:pt x="20785" y="0"/>
                  </a:cubicBezTo>
                  <a:close/>
                </a:path>
              </a:pathLst>
            </a:custGeom>
            <a:solidFill>
              <a:srgbClr val="8AB7E2"/>
            </a:solidFill>
            <a:ln cap="sq" cmpd="sng" w="9525">
              <a:solidFill>
                <a:srgbClr val="00000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4" name="Google Shape;384;p42"/>
            <p:cNvSpPr txBox="1"/>
            <p:nvPr/>
          </p:nvSpPr>
          <p:spPr>
            <a:xfrm>
              <a:off x="0" y="-38100"/>
              <a:ext cx="2065940" cy="102274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85" name="Google Shape;385;p42"/>
          <p:cNvSpPr/>
          <p:nvPr/>
        </p:nvSpPr>
        <p:spPr>
          <a:xfrm rot="-7900054">
            <a:off x="7348622" y="2133028"/>
            <a:ext cx="1012981" cy="454921"/>
          </a:xfrm>
          <a:custGeom>
            <a:rect b="b" l="l" r="r" t="t"/>
            <a:pathLst>
              <a:path extrusionOk="0" h="454921" w="1012981">
                <a:moveTo>
                  <a:pt x="0" y="0"/>
                </a:moveTo>
                <a:lnTo>
                  <a:pt x="1012982" y="0"/>
                </a:lnTo>
                <a:lnTo>
                  <a:pt x="1012982" y="454921"/>
                </a:lnTo>
                <a:lnTo>
                  <a:pt x="0" y="454921"/>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6" name="Google Shape;386;p42"/>
          <p:cNvSpPr/>
          <p:nvPr/>
        </p:nvSpPr>
        <p:spPr>
          <a:xfrm rot="-2700000">
            <a:off x="10017119" y="2144497"/>
            <a:ext cx="1012981" cy="454921"/>
          </a:xfrm>
          <a:custGeom>
            <a:rect b="b" l="l" r="r" t="t"/>
            <a:pathLst>
              <a:path extrusionOk="0" h="454921" w="1012981">
                <a:moveTo>
                  <a:pt x="0" y="0"/>
                </a:moveTo>
                <a:lnTo>
                  <a:pt x="1012982" y="0"/>
                </a:lnTo>
                <a:lnTo>
                  <a:pt x="1012982" y="454921"/>
                </a:lnTo>
                <a:lnTo>
                  <a:pt x="0" y="454921"/>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7" name="Google Shape;387;p42"/>
          <p:cNvSpPr/>
          <p:nvPr/>
        </p:nvSpPr>
        <p:spPr>
          <a:xfrm rot="3209977">
            <a:off x="9982257" y="7689589"/>
            <a:ext cx="1012981" cy="454921"/>
          </a:xfrm>
          <a:custGeom>
            <a:rect b="b" l="l" r="r" t="t"/>
            <a:pathLst>
              <a:path extrusionOk="0" h="454921" w="1012981">
                <a:moveTo>
                  <a:pt x="0" y="0"/>
                </a:moveTo>
                <a:lnTo>
                  <a:pt x="1012981" y="0"/>
                </a:lnTo>
                <a:lnTo>
                  <a:pt x="1012981" y="454921"/>
                </a:lnTo>
                <a:lnTo>
                  <a:pt x="0" y="454921"/>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8" name="Google Shape;388;p42"/>
          <p:cNvSpPr/>
          <p:nvPr/>
        </p:nvSpPr>
        <p:spPr>
          <a:xfrm rot="7866361">
            <a:off x="7243302" y="7665457"/>
            <a:ext cx="1012981" cy="454921"/>
          </a:xfrm>
          <a:custGeom>
            <a:rect b="b" l="l" r="r" t="t"/>
            <a:pathLst>
              <a:path extrusionOk="0" h="454921" w="1012981">
                <a:moveTo>
                  <a:pt x="0" y="0"/>
                </a:moveTo>
                <a:lnTo>
                  <a:pt x="1012982" y="0"/>
                </a:lnTo>
                <a:lnTo>
                  <a:pt x="1012982" y="454921"/>
                </a:lnTo>
                <a:lnTo>
                  <a:pt x="0" y="454921"/>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9" name="Google Shape;389;p42"/>
          <p:cNvSpPr txBox="1"/>
          <p:nvPr/>
        </p:nvSpPr>
        <p:spPr>
          <a:xfrm>
            <a:off x="2325213" y="2434504"/>
            <a:ext cx="2846165" cy="498406"/>
          </a:xfrm>
          <a:prstGeom prst="rect">
            <a:avLst/>
          </a:prstGeom>
          <a:noFill/>
          <a:ln>
            <a:noFill/>
          </a:ln>
        </p:spPr>
        <p:txBody>
          <a:bodyPr anchorCtr="0" anchor="t" bIns="0" lIns="0" spcFirstLastPara="1" rIns="0" wrap="square" tIns="0">
            <a:spAutoFit/>
          </a:bodyPr>
          <a:lstStyle/>
          <a:p>
            <a:pPr indent="0" lvl="0" marL="0" marR="0" rtl="0" algn="l">
              <a:lnSpc>
                <a:spcPct val="96800"/>
              </a:lnSpc>
              <a:spcBef>
                <a:spcPts val="0"/>
              </a:spcBef>
              <a:spcAft>
                <a:spcPts val="0"/>
              </a:spcAft>
              <a:buNone/>
            </a:pPr>
            <a:r>
              <a:rPr b="1" lang="en-US" sz="2000">
                <a:solidFill>
                  <a:schemeClr val="dk1"/>
                </a:solidFill>
                <a:latin typeface="Calibri"/>
                <a:ea typeface="Calibri"/>
                <a:cs typeface="Calibri"/>
                <a:sym typeface="Calibri"/>
              </a:rPr>
              <a:t>excellent -&gt; credit_card credit_card -&gt; excellent</a:t>
            </a:r>
            <a:endParaRPr b="1" sz="2000" u="none" strike="noStrike">
              <a:solidFill>
                <a:srgbClr val="000000"/>
              </a:solidFill>
              <a:latin typeface="DM Sans"/>
              <a:ea typeface="DM Sans"/>
              <a:cs typeface="DM Sans"/>
              <a:sym typeface="DM Sans"/>
            </a:endParaRPr>
          </a:p>
        </p:txBody>
      </p:sp>
      <p:sp>
        <p:nvSpPr>
          <p:cNvPr id="390" name="Google Shape;390;p42"/>
          <p:cNvSpPr txBox="1"/>
          <p:nvPr/>
        </p:nvSpPr>
        <p:spPr>
          <a:xfrm>
            <a:off x="6990481" y="4618442"/>
            <a:ext cx="4297511" cy="1043299"/>
          </a:xfrm>
          <a:prstGeom prst="rect">
            <a:avLst/>
          </a:prstGeom>
          <a:noFill/>
          <a:ln>
            <a:noFill/>
          </a:ln>
        </p:spPr>
        <p:txBody>
          <a:bodyPr anchorCtr="0" anchor="t" bIns="0" lIns="0" spcFirstLastPara="1" rIns="0" wrap="square" tIns="0">
            <a:spAutoFit/>
          </a:bodyPr>
          <a:lstStyle/>
          <a:p>
            <a:pPr indent="0" lvl="1" marL="0" marR="0" rtl="0" algn="ctr">
              <a:lnSpc>
                <a:spcPct val="97000"/>
              </a:lnSpc>
              <a:spcBef>
                <a:spcPts val="0"/>
              </a:spcBef>
              <a:spcAft>
                <a:spcPts val="0"/>
              </a:spcAft>
              <a:buNone/>
            </a:pPr>
            <a:r>
              <a:rPr b="1" i="0" lang="en-US" sz="8000" u="none" cap="none" strike="noStrike">
                <a:solidFill>
                  <a:srgbClr val="000000"/>
                </a:solidFill>
                <a:latin typeface="DM Sans"/>
                <a:ea typeface="DM Sans"/>
                <a:cs typeface="DM Sans"/>
                <a:sym typeface="DM Sans"/>
              </a:rPr>
              <a:t>Rules</a:t>
            </a:r>
            <a:endParaRPr/>
          </a:p>
        </p:txBody>
      </p:sp>
      <p:sp>
        <p:nvSpPr>
          <p:cNvPr id="391" name="Google Shape;391;p42"/>
          <p:cNvSpPr txBox="1"/>
          <p:nvPr/>
        </p:nvSpPr>
        <p:spPr>
          <a:xfrm>
            <a:off x="7362365" y="6150211"/>
            <a:ext cx="3563270" cy="406146"/>
          </a:xfrm>
          <a:prstGeom prst="rect">
            <a:avLst/>
          </a:prstGeom>
          <a:noFill/>
          <a:ln>
            <a:noFill/>
          </a:ln>
        </p:spPr>
        <p:txBody>
          <a:bodyPr anchorCtr="0" anchor="t" bIns="0" lIns="0" spcFirstLastPara="1" rIns="0" wrap="square" tIns="0">
            <a:spAutoFit/>
          </a:bodyPr>
          <a:lstStyle/>
          <a:p>
            <a:pPr indent="0" lvl="0" marL="0" marR="0" rtl="0" algn="ctr">
              <a:lnSpc>
                <a:spcPct val="108000"/>
              </a:lnSpc>
              <a:spcBef>
                <a:spcPts val="0"/>
              </a:spcBef>
              <a:spcAft>
                <a:spcPts val="0"/>
              </a:spcAft>
              <a:buNone/>
            </a:pPr>
            <a:r>
              <a:t/>
            </a:r>
            <a:endParaRPr sz="2900">
              <a:solidFill>
                <a:srgbClr val="000000"/>
              </a:solidFill>
              <a:latin typeface="DM Sans"/>
              <a:ea typeface="DM Sans"/>
              <a:cs typeface="DM Sans"/>
              <a:sym typeface="DM Sans"/>
            </a:endParaRPr>
          </a:p>
        </p:txBody>
      </p:sp>
      <p:sp>
        <p:nvSpPr>
          <p:cNvPr id="392" name="Google Shape;392;p42"/>
          <p:cNvSpPr txBox="1"/>
          <p:nvPr/>
        </p:nvSpPr>
        <p:spPr>
          <a:xfrm>
            <a:off x="2075591" y="1940324"/>
            <a:ext cx="3361335" cy="254750"/>
          </a:xfrm>
          <a:prstGeom prst="rect">
            <a:avLst/>
          </a:prstGeom>
          <a:noFill/>
          <a:ln>
            <a:noFill/>
          </a:ln>
        </p:spPr>
        <p:txBody>
          <a:bodyPr anchorCtr="0" anchor="t" bIns="0" lIns="0" spcFirstLastPara="1" rIns="0" wrap="square" tIns="0">
            <a:spAutoFit/>
          </a:bodyPr>
          <a:lstStyle/>
          <a:p>
            <a:pPr indent="0" lvl="0" marL="0" marR="0" rtl="0" algn="l">
              <a:lnSpc>
                <a:spcPct val="96800"/>
              </a:lnSpc>
              <a:spcBef>
                <a:spcPts val="0"/>
              </a:spcBef>
              <a:spcAft>
                <a:spcPts val="0"/>
              </a:spcAft>
              <a:buNone/>
            </a:pPr>
            <a:r>
              <a:rPr b="1" lang="en-US" sz="2000">
                <a:solidFill>
                  <a:srgbClr val="FF0000"/>
                </a:solidFill>
                <a:latin typeface="Calibri"/>
                <a:ea typeface="Calibri"/>
                <a:cs typeface="Calibri"/>
                <a:sym typeface="Calibri"/>
              </a:rPr>
              <a:t>Payment type and review score</a:t>
            </a:r>
            <a:endParaRPr b="1" sz="2000" u="none" strike="noStrike">
              <a:solidFill>
                <a:srgbClr val="FF0000"/>
              </a:solidFill>
              <a:latin typeface="DM Sans"/>
              <a:ea typeface="DM Sans"/>
              <a:cs typeface="DM Sans"/>
              <a:sym typeface="DM Sans"/>
            </a:endParaRPr>
          </a:p>
        </p:txBody>
      </p:sp>
      <p:sp>
        <p:nvSpPr>
          <p:cNvPr id="393" name="Google Shape;393;p42"/>
          <p:cNvSpPr txBox="1"/>
          <p:nvPr/>
        </p:nvSpPr>
        <p:spPr>
          <a:xfrm>
            <a:off x="2088287" y="4833822"/>
            <a:ext cx="3403254" cy="254750"/>
          </a:xfrm>
          <a:prstGeom prst="rect">
            <a:avLst/>
          </a:prstGeom>
          <a:noFill/>
          <a:ln>
            <a:noFill/>
          </a:ln>
        </p:spPr>
        <p:txBody>
          <a:bodyPr anchorCtr="0" anchor="t" bIns="0" lIns="0" spcFirstLastPara="1" rIns="0" wrap="square" tIns="0">
            <a:spAutoFit/>
          </a:bodyPr>
          <a:lstStyle/>
          <a:p>
            <a:pPr indent="0" lvl="0" marL="0" marR="0" rtl="0" algn="l">
              <a:lnSpc>
                <a:spcPct val="96800"/>
              </a:lnSpc>
              <a:spcBef>
                <a:spcPts val="0"/>
              </a:spcBef>
              <a:spcAft>
                <a:spcPts val="0"/>
              </a:spcAft>
              <a:buNone/>
            </a:pPr>
            <a:r>
              <a:rPr b="1" lang="en-US" sz="2000">
                <a:solidFill>
                  <a:srgbClr val="FF0000"/>
                </a:solidFill>
                <a:latin typeface="Calibri"/>
                <a:ea typeface="Calibri"/>
                <a:cs typeface="Calibri"/>
                <a:sym typeface="Calibri"/>
              </a:rPr>
              <a:t>Payment value and review score</a:t>
            </a:r>
            <a:endParaRPr b="1" sz="2000" u="none" strike="noStrike">
              <a:solidFill>
                <a:srgbClr val="FF0000"/>
              </a:solidFill>
              <a:latin typeface="DM Sans"/>
              <a:ea typeface="DM Sans"/>
              <a:cs typeface="DM Sans"/>
              <a:sym typeface="DM Sans"/>
            </a:endParaRPr>
          </a:p>
        </p:txBody>
      </p:sp>
      <p:sp>
        <p:nvSpPr>
          <p:cNvPr id="394" name="Google Shape;394;p42"/>
          <p:cNvSpPr txBox="1"/>
          <p:nvPr/>
        </p:nvSpPr>
        <p:spPr>
          <a:xfrm>
            <a:off x="1777715" y="5283360"/>
            <a:ext cx="4089208" cy="498406"/>
          </a:xfrm>
          <a:prstGeom prst="rect">
            <a:avLst/>
          </a:prstGeom>
          <a:noFill/>
          <a:ln>
            <a:noFill/>
          </a:ln>
        </p:spPr>
        <p:txBody>
          <a:bodyPr anchorCtr="0" anchor="t" bIns="0" lIns="0" spcFirstLastPara="1" rIns="0" wrap="square" tIns="0">
            <a:spAutoFit/>
          </a:bodyPr>
          <a:lstStyle/>
          <a:p>
            <a:pPr indent="0" lvl="0" marL="0" marR="0" rtl="0" algn="l">
              <a:lnSpc>
                <a:spcPct val="96800"/>
              </a:lnSpc>
              <a:spcBef>
                <a:spcPts val="0"/>
              </a:spcBef>
              <a:spcAft>
                <a:spcPts val="0"/>
              </a:spcAft>
              <a:buNone/>
            </a:pPr>
            <a:r>
              <a:rPr b="1" lang="en-US" sz="2000">
                <a:solidFill>
                  <a:schemeClr val="dk1"/>
                </a:solidFill>
                <a:latin typeface="Calibri"/>
                <a:ea typeface="Calibri"/>
                <a:cs typeface="Calibri"/>
                <a:sym typeface="Calibri"/>
              </a:rPr>
              <a:t>excellent -&gt; very small payment value very small payment value -&gt; excellent </a:t>
            </a:r>
            <a:endParaRPr b="1" sz="2000" u="none" strike="noStrike">
              <a:solidFill>
                <a:srgbClr val="000000"/>
              </a:solidFill>
              <a:latin typeface="DM Sans"/>
              <a:ea typeface="DM Sans"/>
              <a:cs typeface="DM Sans"/>
              <a:sym typeface="DM Sans"/>
            </a:endParaRPr>
          </a:p>
        </p:txBody>
      </p:sp>
      <p:sp>
        <p:nvSpPr>
          <p:cNvPr id="395" name="Google Shape;395;p42"/>
          <p:cNvSpPr txBox="1"/>
          <p:nvPr/>
        </p:nvSpPr>
        <p:spPr>
          <a:xfrm>
            <a:off x="2130206" y="7594766"/>
            <a:ext cx="3508594" cy="254750"/>
          </a:xfrm>
          <a:prstGeom prst="rect">
            <a:avLst/>
          </a:prstGeom>
          <a:noFill/>
          <a:ln>
            <a:noFill/>
          </a:ln>
        </p:spPr>
        <p:txBody>
          <a:bodyPr anchorCtr="0" anchor="t" bIns="0" lIns="0" spcFirstLastPara="1" rIns="0" wrap="square" tIns="0">
            <a:spAutoFit/>
          </a:bodyPr>
          <a:lstStyle/>
          <a:p>
            <a:pPr indent="0" lvl="0" marL="0" marR="0" rtl="0" algn="l">
              <a:lnSpc>
                <a:spcPct val="96800"/>
              </a:lnSpc>
              <a:spcBef>
                <a:spcPts val="0"/>
              </a:spcBef>
              <a:spcAft>
                <a:spcPts val="0"/>
              </a:spcAft>
              <a:buNone/>
            </a:pPr>
            <a:r>
              <a:rPr b="1" lang="en-US" sz="2000">
                <a:solidFill>
                  <a:srgbClr val="FF0000"/>
                </a:solidFill>
                <a:latin typeface="Calibri"/>
                <a:ea typeface="Calibri"/>
                <a:cs typeface="Calibri"/>
                <a:sym typeface="Calibri"/>
              </a:rPr>
              <a:t>customer state and review score</a:t>
            </a:r>
            <a:endParaRPr b="1" sz="2000" u="none" strike="noStrike">
              <a:solidFill>
                <a:srgbClr val="FF0000"/>
              </a:solidFill>
              <a:latin typeface="DM Sans"/>
              <a:ea typeface="DM Sans"/>
              <a:cs typeface="DM Sans"/>
              <a:sym typeface="DM Sans"/>
            </a:endParaRPr>
          </a:p>
        </p:txBody>
      </p:sp>
      <p:sp>
        <p:nvSpPr>
          <p:cNvPr id="396" name="Google Shape;396;p42"/>
          <p:cNvSpPr txBox="1"/>
          <p:nvPr/>
        </p:nvSpPr>
        <p:spPr>
          <a:xfrm>
            <a:off x="12785012" y="2050483"/>
            <a:ext cx="3361335" cy="254750"/>
          </a:xfrm>
          <a:prstGeom prst="rect">
            <a:avLst/>
          </a:prstGeom>
          <a:noFill/>
          <a:ln>
            <a:noFill/>
          </a:ln>
        </p:spPr>
        <p:txBody>
          <a:bodyPr anchorCtr="0" anchor="t" bIns="0" lIns="0" spcFirstLastPara="1" rIns="0" wrap="square" tIns="0">
            <a:spAutoFit/>
          </a:bodyPr>
          <a:lstStyle/>
          <a:p>
            <a:pPr indent="0" lvl="0" marL="0" marR="0" rtl="0" algn="l">
              <a:lnSpc>
                <a:spcPct val="96800"/>
              </a:lnSpc>
              <a:spcBef>
                <a:spcPts val="0"/>
              </a:spcBef>
              <a:spcAft>
                <a:spcPts val="0"/>
              </a:spcAft>
              <a:buNone/>
            </a:pPr>
            <a:r>
              <a:rPr b="1" lang="en-US" sz="2000">
                <a:solidFill>
                  <a:srgbClr val="FF0000"/>
                </a:solidFill>
                <a:latin typeface="Calibri"/>
                <a:ea typeface="Calibri"/>
                <a:cs typeface="Calibri"/>
                <a:sym typeface="Calibri"/>
              </a:rPr>
              <a:t>seller state and review score</a:t>
            </a:r>
            <a:endParaRPr b="1" sz="2000" u="none" strike="noStrike">
              <a:solidFill>
                <a:srgbClr val="FF0000"/>
              </a:solidFill>
              <a:latin typeface="DM Sans"/>
              <a:ea typeface="DM Sans"/>
              <a:cs typeface="DM Sans"/>
              <a:sym typeface="DM Sans"/>
            </a:endParaRPr>
          </a:p>
        </p:txBody>
      </p:sp>
      <p:sp>
        <p:nvSpPr>
          <p:cNvPr id="397" name="Google Shape;397;p42"/>
          <p:cNvSpPr txBox="1"/>
          <p:nvPr/>
        </p:nvSpPr>
        <p:spPr>
          <a:xfrm>
            <a:off x="12723317" y="7529286"/>
            <a:ext cx="4116883" cy="254750"/>
          </a:xfrm>
          <a:prstGeom prst="rect">
            <a:avLst/>
          </a:prstGeom>
          <a:noFill/>
          <a:ln>
            <a:noFill/>
          </a:ln>
        </p:spPr>
        <p:txBody>
          <a:bodyPr anchorCtr="0" anchor="t" bIns="0" lIns="0" spcFirstLastPara="1" rIns="0" wrap="square" tIns="0">
            <a:spAutoFit/>
          </a:bodyPr>
          <a:lstStyle/>
          <a:p>
            <a:pPr indent="0" lvl="0" marL="0" marR="0" rtl="0" algn="l">
              <a:lnSpc>
                <a:spcPct val="96800"/>
              </a:lnSpc>
              <a:spcBef>
                <a:spcPts val="0"/>
              </a:spcBef>
              <a:spcAft>
                <a:spcPts val="0"/>
              </a:spcAft>
              <a:buNone/>
            </a:pPr>
            <a:r>
              <a:rPr b="1" lang="en-US" sz="2000">
                <a:solidFill>
                  <a:srgbClr val="FF0000"/>
                </a:solidFill>
                <a:latin typeface="Calibri"/>
                <a:ea typeface="Calibri"/>
                <a:cs typeface="Calibri"/>
                <a:sym typeface="Calibri"/>
              </a:rPr>
              <a:t>Delivery impression and review score</a:t>
            </a:r>
            <a:endParaRPr b="1" sz="2000" u="none" strike="noStrike">
              <a:solidFill>
                <a:srgbClr val="FF0000"/>
              </a:solidFill>
              <a:latin typeface="DM Sans"/>
              <a:ea typeface="DM Sans"/>
              <a:cs typeface="DM Sans"/>
              <a:sym typeface="DM Sans"/>
            </a:endParaRPr>
          </a:p>
        </p:txBody>
      </p:sp>
      <p:sp>
        <p:nvSpPr>
          <p:cNvPr id="398" name="Google Shape;398;p42"/>
          <p:cNvSpPr txBox="1"/>
          <p:nvPr/>
        </p:nvSpPr>
        <p:spPr>
          <a:xfrm>
            <a:off x="12908837" y="4865805"/>
            <a:ext cx="3361335" cy="254750"/>
          </a:xfrm>
          <a:prstGeom prst="rect">
            <a:avLst/>
          </a:prstGeom>
          <a:noFill/>
          <a:ln>
            <a:noFill/>
          </a:ln>
        </p:spPr>
        <p:txBody>
          <a:bodyPr anchorCtr="0" anchor="t" bIns="0" lIns="0" spcFirstLastPara="1" rIns="0" wrap="square" tIns="0">
            <a:spAutoFit/>
          </a:bodyPr>
          <a:lstStyle/>
          <a:p>
            <a:pPr indent="0" lvl="0" marL="0" marR="0" rtl="0" algn="l">
              <a:lnSpc>
                <a:spcPct val="96800"/>
              </a:lnSpc>
              <a:spcBef>
                <a:spcPts val="0"/>
              </a:spcBef>
              <a:spcAft>
                <a:spcPts val="0"/>
              </a:spcAft>
              <a:buNone/>
            </a:pPr>
            <a:r>
              <a:rPr b="1" lang="en-US" sz="2000">
                <a:solidFill>
                  <a:srgbClr val="FF0000"/>
                </a:solidFill>
                <a:latin typeface="Calibri"/>
                <a:ea typeface="Calibri"/>
                <a:cs typeface="Calibri"/>
                <a:sym typeface="Calibri"/>
              </a:rPr>
              <a:t>Arrival time and review score</a:t>
            </a:r>
            <a:endParaRPr b="1" sz="2000" u="none" strike="noStrike">
              <a:solidFill>
                <a:srgbClr val="FF0000"/>
              </a:solidFill>
              <a:latin typeface="DM Sans"/>
              <a:ea typeface="DM Sans"/>
              <a:cs typeface="DM Sans"/>
              <a:sym typeface="DM Sans"/>
            </a:endParaRPr>
          </a:p>
        </p:txBody>
      </p:sp>
      <p:sp>
        <p:nvSpPr>
          <p:cNvPr id="399" name="Google Shape;399;p42"/>
          <p:cNvSpPr txBox="1"/>
          <p:nvPr/>
        </p:nvSpPr>
        <p:spPr>
          <a:xfrm>
            <a:off x="13523453" y="5385702"/>
            <a:ext cx="2846165" cy="498406"/>
          </a:xfrm>
          <a:prstGeom prst="rect">
            <a:avLst/>
          </a:prstGeom>
          <a:noFill/>
          <a:ln>
            <a:noFill/>
          </a:ln>
        </p:spPr>
        <p:txBody>
          <a:bodyPr anchorCtr="0" anchor="t" bIns="0" lIns="0" spcFirstLastPara="1" rIns="0" wrap="square" tIns="0">
            <a:spAutoFit/>
          </a:bodyPr>
          <a:lstStyle/>
          <a:p>
            <a:pPr indent="0" lvl="0" marL="0" marR="0" rtl="0" algn="l">
              <a:lnSpc>
                <a:spcPct val="96800"/>
              </a:lnSpc>
              <a:spcBef>
                <a:spcPts val="0"/>
              </a:spcBef>
              <a:spcAft>
                <a:spcPts val="0"/>
              </a:spcAft>
              <a:buNone/>
            </a:pPr>
            <a:r>
              <a:rPr b="1" lang="en-US" sz="2000">
                <a:solidFill>
                  <a:schemeClr val="dk1"/>
                </a:solidFill>
                <a:latin typeface="Calibri"/>
                <a:ea typeface="Calibri"/>
                <a:cs typeface="Calibri"/>
                <a:sym typeface="Calibri"/>
              </a:rPr>
              <a:t>excellent -&gt; OnTime OnTime -&gt; excellent </a:t>
            </a:r>
            <a:endParaRPr b="1" sz="2000" u="none" strike="noStrike">
              <a:solidFill>
                <a:srgbClr val="000000"/>
              </a:solidFill>
              <a:latin typeface="DM Sans"/>
              <a:ea typeface="DM Sans"/>
              <a:cs typeface="DM Sans"/>
              <a:sym typeface="DM Sans"/>
            </a:endParaRPr>
          </a:p>
        </p:txBody>
      </p:sp>
      <p:sp>
        <p:nvSpPr>
          <p:cNvPr id="400" name="Google Shape;400;p42"/>
          <p:cNvSpPr txBox="1"/>
          <p:nvPr/>
        </p:nvSpPr>
        <p:spPr>
          <a:xfrm>
            <a:off x="13737795" y="2570380"/>
            <a:ext cx="1703415" cy="498406"/>
          </a:xfrm>
          <a:prstGeom prst="rect">
            <a:avLst/>
          </a:prstGeom>
          <a:noFill/>
          <a:ln>
            <a:noFill/>
          </a:ln>
        </p:spPr>
        <p:txBody>
          <a:bodyPr anchorCtr="0" anchor="t" bIns="0" lIns="0" spcFirstLastPara="1" rIns="0" wrap="square" tIns="0">
            <a:spAutoFit/>
          </a:bodyPr>
          <a:lstStyle/>
          <a:p>
            <a:pPr indent="0" lvl="0" marL="0" marR="0" rtl="0" algn="l">
              <a:lnSpc>
                <a:spcPct val="96800"/>
              </a:lnSpc>
              <a:spcBef>
                <a:spcPts val="0"/>
              </a:spcBef>
              <a:spcAft>
                <a:spcPts val="0"/>
              </a:spcAft>
              <a:buNone/>
            </a:pPr>
            <a:r>
              <a:rPr b="1" lang="en-US" sz="2000">
                <a:solidFill>
                  <a:schemeClr val="dk1"/>
                </a:solidFill>
                <a:latin typeface="Calibri"/>
                <a:ea typeface="Calibri"/>
                <a:cs typeface="Calibri"/>
                <a:sym typeface="Calibri"/>
              </a:rPr>
              <a:t>excellent -&gt; SP SP -&gt; excellent </a:t>
            </a:r>
            <a:endParaRPr b="1" sz="2000" u="none" strike="noStrike">
              <a:solidFill>
                <a:srgbClr val="000000"/>
              </a:solidFill>
              <a:latin typeface="DM Sans"/>
              <a:ea typeface="DM Sans"/>
              <a:cs typeface="DM Sans"/>
              <a:sym typeface="DM Sans"/>
            </a:endParaRPr>
          </a:p>
        </p:txBody>
      </p:sp>
      <p:sp>
        <p:nvSpPr>
          <p:cNvPr id="401" name="Google Shape;401;p42"/>
          <p:cNvSpPr txBox="1"/>
          <p:nvPr/>
        </p:nvSpPr>
        <p:spPr>
          <a:xfrm>
            <a:off x="2940097" y="8091926"/>
            <a:ext cx="2846165" cy="254750"/>
          </a:xfrm>
          <a:prstGeom prst="rect">
            <a:avLst/>
          </a:prstGeom>
          <a:noFill/>
          <a:ln>
            <a:noFill/>
          </a:ln>
        </p:spPr>
        <p:txBody>
          <a:bodyPr anchorCtr="0" anchor="t" bIns="0" lIns="0" spcFirstLastPara="1" rIns="0" wrap="square" tIns="0">
            <a:spAutoFit/>
          </a:bodyPr>
          <a:lstStyle/>
          <a:p>
            <a:pPr indent="0" lvl="0" marL="0" marR="0" rtl="0" algn="l">
              <a:lnSpc>
                <a:spcPct val="96800"/>
              </a:lnSpc>
              <a:spcBef>
                <a:spcPts val="0"/>
              </a:spcBef>
              <a:spcAft>
                <a:spcPts val="0"/>
              </a:spcAft>
              <a:buNone/>
            </a:pPr>
            <a:r>
              <a:rPr b="1" lang="en-US" sz="2000">
                <a:solidFill>
                  <a:schemeClr val="dk1"/>
                </a:solidFill>
                <a:latin typeface="Calibri"/>
                <a:ea typeface="Calibri"/>
                <a:cs typeface="Calibri"/>
                <a:sym typeface="Calibri"/>
              </a:rPr>
              <a:t>SP -&gt; excellent</a:t>
            </a:r>
            <a:endParaRPr b="1" sz="2000" u="none" strike="noStrike">
              <a:solidFill>
                <a:srgbClr val="000000"/>
              </a:solidFill>
              <a:latin typeface="DM Sans"/>
              <a:ea typeface="DM Sans"/>
              <a:cs typeface="DM Sans"/>
              <a:sym typeface="DM Sans"/>
            </a:endParaRPr>
          </a:p>
        </p:txBody>
      </p:sp>
      <p:sp>
        <p:nvSpPr>
          <p:cNvPr id="402" name="Google Shape;402;p42"/>
          <p:cNvSpPr txBox="1"/>
          <p:nvPr/>
        </p:nvSpPr>
        <p:spPr>
          <a:xfrm>
            <a:off x="13793037" y="8003477"/>
            <a:ext cx="2214885" cy="498406"/>
          </a:xfrm>
          <a:prstGeom prst="rect">
            <a:avLst/>
          </a:prstGeom>
          <a:noFill/>
          <a:ln>
            <a:noFill/>
          </a:ln>
        </p:spPr>
        <p:txBody>
          <a:bodyPr anchorCtr="0" anchor="t" bIns="0" lIns="0" spcFirstLastPara="1" rIns="0" wrap="square" tIns="0">
            <a:spAutoFit/>
          </a:bodyPr>
          <a:lstStyle/>
          <a:p>
            <a:pPr indent="0" lvl="0" marL="0" marR="0" rtl="0" algn="l">
              <a:lnSpc>
                <a:spcPct val="96800"/>
              </a:lnSpc>
              <a:spcBef>
                <a:spcPts val="0"/>
              </a:spcBef>
              <a:spcAft>
                <a:spcPts val="0"/>
              </a:spcAft>
              <a:buNone/>
            </a:pPr>
            <a:r>
              <a:rPr b="1" lang="en-US" sz="2000">
                <a:solidFill>
                  <a:schemeClr val="dk1"/>
                </a:solidFill>
                <a:latin typeface="Calibri"/>
                <a:ea typeface="Calibri"/>
                <a:cs typeface="Calibri"/>
                <a:sym typeface="Calibri"/>
              </a:rPr>
              <a:t>Fast -&gt; excellent excellent -&gt; Fast </a:t>
            </a:r>
            <a:endParaRPr b="1" sz="2000" u="none" strike="noStrike">
              <a:solidFill>
                <a:srgbClr val="000000"/>
              </a:solidFill>
              <a:latin typeface="DM Sans"/>
              <a:ea typeface="DM Sans"/>
              <a:cs typeface="DM Sans"/>
              <a:sym typeface="DM Sans"/>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43"/>
          <p:cNvSpPr/>
          <p:nvPr/>
        </p:nvSpPr>
        <p:spPr>
          <a:xfrm rot="-5400000">
            <a:off x="4000500" y="-4000500"/>
            <a:ext cx="10287000" cy="18288000"/>
          </a:xfrm>
          <a:custGeom>
            <a:rect b="b" l="l" r="r" t="t"/>
            <a:pathLst>
              <a:path extrusionOk="0" h="18288000" w="10287000">
                <a:moveTo>
                  <a:pt x="10287000" y="0"/>
                </a:moveTo>
                <a:lnTo>
                  <a:pt x="10287000" y="18288000"/>
                </a:lnTo>
                <a:lnTo>
                  <a:pt x="0" y="18288000"/>
                </a:lnTo>
                <a:lnTo>
                  <a:pt x="0" y="0"/>
                </a:lnTo>
                <a:lnTo>
                  <a:pt x="10287000" y="0"/>
                </a:lnTo>
                <a:close/>
              </a:path>
            </a:pathLst>
          </a:custGeom>
          <a:blipFill rotWithShape="1">
            <a:blip r:embed="rId3">
              <a:alphaModFix/>
            </a:blip>
            <a:stretch>
              <a:fillRect b="-2747" l="-71865" r="-74156" t="-363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Review score based on payment value</a:t>
            </a:r>
            <a:endParaRPr/>
          </a:p>
        </p:txBody>
      </p:sp>
      <p:sp>
        <p:nvSpPr>
          <p:cNvPr id="408" name="Google Shape;408;p43"/>
          <p:cNvSpPr txBox="1"/>
          <p:nvPr/>
        </p:nvSpPr>
        <p:spPr>
          <a:xfrm>
            <a:off x="990600" y="1951077"/>
            <a:ext cx="7707571" cy="55399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chemeClr val="dk1"/>
                </a:solidFill>
                <a:latin typeface="Calibri"/>
                <a:ea typeface="Calibri"/>
                <a:cs typeface="Calibri"/>
                <a:sym typeface="Calibri"/>
              </a:rPr>
              <a:t>Models / Results and Evaluation</a:t>
            </a:r>
            <a:endParaRPr b="1" sz="3500" u="none">
              <a:solidFill>
                <a:srgbClr val="000000"/>
              </a:solidFill>
              <a:latin typeface="DM Sans"/>
              <a:ea typeface="DM Sans"/>
              <a:cs typeface="DM Sans"/>
              <a:sym typeface="DM Sans"/>
            </a:endParaRPr>
          </a:p>
        </p:txBody>
      </p:sp>
      <p:graphicFrame>
        <p:nvGraphicFramePr>
          <p:cNvPr id="409" name="Google Shape;409;p43"/>
          <p:cNvGraphicFramePr/>
          <p:nvPr/>
        </p:nvGraphicFramePr>
        <p:xfrm>
          <a:off x="2286000" y="3009899"/>
          <a:ext cx="3000000" cy="3000000"/>
        </p:xfrm>
        <a:graphic>
          <a:graphicData uri="http://schemas.openxmlformats.org/drawingml/2006/table">
            <a:tbl>
              <a:tblPr bandRow="1" firstRow="1">
                <a:noFill/>
                <a:tableStyleId>{EBB86042-AA1B-479C-B83E-C9E739713C57}</a:tableStyleId>
              </a:tblPr>
              <a:tblGrid>
                <a:gridCol w="4470400"/>
                <a:gridCol w="4470400"/>
                <a:gridCol w="4470400"/>
              </a:tblGrid>
              <a:tr h="1219200">
                <a:tc>
                  <a:txBody>
                    <a:bodyPr/>
                    <a:lstStyle/>
                    <a:p>
                      <a:pPr indent="0" lvl="0" marL="0" marR="0" rtl="0" algn="ctr">
                        <a:spcBef>
                          <a:spcPts val="0"/>
                        </a:spcBef>
                        <a:spcAft>
                          <a:spcPts val="0"/>
                        </a:spcAft>
                        <a:buNone/>
                      </a:pPr>
                      <a:r>
                        <a:rPr b="1" lang="en-US" sz="3000" u="none" cap="none" strike="noStrike"/>
                        <a:t>Model</a:t>
                      </a:r>
                      <a:endParaRPr/>
                    </a:p>
                  </a:txBody>
                  <a:tcPr marT="45725" marB="45725" marR="91450" marL="91450"/>
                </a:tc>
                <a:tc>
                  <a:txBody>
                    <a:bodyPr/>
                    <a:lstStyle/>
                    <a:p>
                      <a:pPr indent="0" lvl="0" marL="0" marR="0" rtl="0" algn="ctr">
                        <a:spcBef>
                          <a:spcPts val="0"/>
                        </a:spcBef>
                        <a:spcAft>
                          <a:spcPts val="0"/>
                        </a:spcAft>
                        <a:buNone/>
                      </a:pPr>
                      <a:r>
                        <a:rPr b="1" lang="en-US" sz="3000" u="none" cap="none" strike="noStrike"/>
                        <a:t>Accuracy</a:t>
                      </a:r>
                      <a:endParaRPr/>
                    </a:p>
                  </a:txBody>
                  <a:tcPr marT="45725" marB="45725" marR="91450" marL="91450"/>
                </a:tc>
                <a:tc>
                  <a:txBody>
                    <a:bodyPr/>
                    <a:lstStyle/>
                    <a:p>
                      <a:pPr indent="0" lvl="0" marL="0" marR="0" rtl="0" algn="ctr">
                        <a:spcBef>
                          <a:spcPts val="0"/>
                        </a:spcBef>
                        <a:spcAft>
                          <a:spcPts val="0"/>
                        </a:spcAft>
                        <a:buNone/>
                      </a:pPr>
                      <a:r>
                        <a:rPr b="1" lang="en-US" sz="3000" u="none" cap="none" strike="noStrike"/>
                        <a:t>F1_Score</a:t>
                      </a:r>
                      <a:endParaRPr/>
                    </a:p>
                  </a:txBody>
                  <a:tcPr marT="45725" marB="45725" marR="91450" marL="91450"/>
                </a:tc>
              </a:tr>
              <a:tr h="1219200">
                <a:tc>
                  <a:txBody>
                    <a:bodyPr/>
                    <a:lstStyle/>
                    <a:p>
                      <a:pPr indent="0" lvl="0" marL="0" marR="0" rtl="0" algn="ctr">
                        <a:spcBef>
                          <a:spcPts val="0"/>
                        </a:spcBef>
                        <a:spcAft>
                          <a:spcPts val="0"/>
                        </a:spcAft>
                        <a:buNone/>
                      </a:pPr>
                      <a:r>
                        <a:rPr b="1" lang="en-US" sz="3000" u="none" cap="none" strike="noStrike"/>
                        <a:t>Random Forrest</a:t>
                      </a:r>
                      <a:endParaRPr/>
                    </a:p>
                  </a:txBody>
                  <a:tcPr marT="45725" marB="45725" marR="91450" marL="91450"/>
                </a:tc>
                <a:tc>
                  <a:txBody>
                    <a:bodyPr/>
                    <a:lstStyle/>
                    <a:p>
                      <a:pPr indent="0" lvl="0" marL="0" marR="0" rtl="0" algn="ctr">
                        <a:spcBef>
                          <a:spcPts val="0"/>
                        </a:spcBef>
                        <a:spcAft>
                          <a:spcPts val="0"/>
                        </a:spcAft>
                        <a:buNone/>
                      </a:pPr>
                      <a:r>
                        <a:rPr b="1" lang="en-US" sz="3000" u="none" cap="none" strike="noStrike"/>
                        <a:t>59.9</a:t>
                      </a:r>
                      <a:endParaRPr/>
                    </a:p>
                  </a:txBody>
                  <a:tcPr marT="45725" marB="45725" marR="91450" marL="91450"/>
                </a:tc>
                <a:tc>
                  <a:txBody>
                    <a:bodyPr/>
                    <a:lstStyle/>
                    <a:p>
                      <a:pPr indent="0" lvl="0" marL="0" marR="0" rtl="0" algn="ctr">
                        <a:spcBef>
                          <a:spcPts val="0"/>
                        </a:spcBef>
                        <a:spcAft>
                          <a:spcPts val="0"/>
                        </a:spcAft>
                        <a:buNone/>
                      </a:pPr>
                      <a:r>
                        <a:rPr b="1" lang="en-US" sz="3000" u="none" cap="none" strike="noStrike"/>
                        <a:t>47.3</a:t>
                      </a:r>
                      <a:endParaRPr/>
                    </a:p>
                  </a:txBody>
                  <a:tcPr marT="45725" marB="45725" marR="91450" marL="91450"/>
                </a:tc>
              </a:tr>
              <a:tr h="1219200">
                <a:tc>
                  <a:txBody>
                    <a:bodyPr/>
                    <a:lstStyle/>
                    <a:p>
                      <a:pPr indent="0" lvl="0" marL="0" marR="0" rtl="0" algn="ctr">
                        <a:spcBef>
                          <a:spcPts val="0"/>
                        </a:spcBef>
                        <a:spcAft>
                          <a:spcPts val="0"/>
                        </a:spcAft>
                        <a:buNone/>
                      </a:pPr>
                      <a:r>
                        <a:rPr b="1" lang="en-US" sz="3000" u="none" cap="none" strike="noStrike"/>
                        <a:t>Logistic Regression</a:t>
                      </a:r>
                      <a:endParaRPr/>
                    </a:p>
                  </a:txBody>
                  <a:tcPr marT="45725" marB="45725" marR="91450" marL="91450"/>
                </a:tc>
                <a:tc>
                  <a:txBody>
                    <a:bodyPr/>
                    <a:lstStyle/>
                    <a:p>
                      <a:pPr indent="0" lvl="0" marL="0" marR="0" rtl="0" algn="ctr">
                        <a:spcBef>
                          <a:spcPts val="0"/>
                        </a:spcBef>
                        <a:spcAft>
                          <a:spcPts val="0"/>
                        </a:spcAft>
                        <a:buNone/>
                      </a:pPr>
                      <a:r>
                        <a:rPr b="1" lang="en-US" sz="3000" u="none" cap="none" strike="noStrike"/>
                        <a:t>59.7</a:t>
                      </a:r>
                      <a:endParaRPr/>
                    </a:p>
                  </a:txBody>
                  <a:tcPr marT="45725" marB="45725" marR="91450" marL="91450"/>
                </a:tc>
                <a:tc>
                  <a:txBody>
                    <a:bodyPr/>
                    <a:lstStyle/>
                    <a:p>
                      <a:pPr indent="0" lvl="0" marL="0" marR="0" rtl="0" algn="ctr">
                        <a:spcBef>
                          <a:spcPts val="0"/>
                        </a:spcBef>
                        <a:spcAft>
                          <a:spcPts val="0"/>
                        </a:spcAft>
                        <a:buNone/>
                      </a:pPr>
                      <a:r>
                        <a:rPr b="1" lang="en-US" sz="3000" u="none" cap="none" strike="noStrike"/>
                        <a:t>47.4</a:t>
                      </a:r>
                      <a:endParaRPr/>
                    </a:p>
                  </a:txBody>
                  <a:tcPr marT="45725" marB="45725" marR="91450" marL="91450"/>
                </a:tc>
              </a:tr>
              <a:tr h="1219200">
                <a:tc>
                  <a:txBody>
                    <a:bodyPr/>
                    <a:lstStyle/>
                    <a:p>
                      <a:pPr indent="0" lvl="0" marL="0" marR="0" rtl="0" algn="ctr">
                        <a:spcBef>
                          <a:spcPts val="0"/>
                        </a:spcBef>
                        <a:spcAft>
                          <a:spcPts val="0"/>
                        </a:spcAft>
                        <a:buNone/>
                      </a:pPr>
                      <a:r>
                        <a:rPr b="1" lang="en-US" sz="3000" u="none" cap="none" strike="noStrike"/>
                        <a:t>Decision Tree</a:t>
                      </a:r>
                      <a:endParaRPr/>
                    </a:p>
                  </a:txBody>
                  <a:tcPr marT="45725" marB="45725" marR="91450" marL="91450"/>
                </a:tc>
                <a:tc>
                  <a:txBody>
                    <a:bodyPr/>
                    <a:lstStyle/>
                    <a:p>
                      <a:pPr indent="0" lvl="0" marL="0" marR="0" rtl="0" algn="ctr">
                        <a:spcBef>
                          <a:spcPts val="0"/>
                        </a:spcBef>
                        <a:spcAft>
                          <a:spcPts val="0"/>
                        </a:spcAft>
                        <a:buNone/>
                      </a:pPr>
                      <a:r>
                        <a:rPr b="1" lang="en-US" sz="3000" u="none" cap="none" strike="noStrike"/>
                        <a:t>60</a:t>
                      </a:r>
                      <a:endParaRPr/>
                    </a:p>
                  </a:txBody>
                  <a:tcPr marT="45725" marB="45725" marR="91450" marL="91450"/>
                </a:tc>
                <a:tc>
                  <a:txBody>
                    <a:bodyPr/>
                    <a:lstStyle/>
                    <a:p>
                      <a:pPr indent="0" lvl="0" marL="0" marR="0" rtl="0" algn="ctr">
                        <a:spcBef>
                          <a:spcPts val="0"/>
                        </a:spcBef>
                        <a:spcAft>
                          <a:spcPts val="0"/>
                        </a:spcAft>
                        <a:buNone/>
                      </a:pPr>
                      <a:r>
                        <a:rPr b="1" lang="en-US" sz="3000" u="none" cap="none" strike="noStrike"/>
                        <a:t>47.3</a:t>
                      </a:r>
                      <a:endParaRPr/>
                    </a:p>
                  </a:txBody>
                  <a:tcPr marT="45725" marB="45725" marR="91450" marL="91450"/>
                </a:tc>
              </a:tr>
              <a:tr h="1219200">
                <a:tc>
                  <a:txBody>
                    <a:bodyPr/>
                    <a:lstStyle/>
                    <a:p>
                      <a:pPr indent="0" lvl="0" marL="0" marR="0" rtl="0" algn="ctr">
                        <a:spcBef>
                          <a:spcPts val="0"/>
                        </a:spcBef>
                        <a:spcAft>
                          <a:spcPts val="0"/>
                        </a:spcAft>
                        <a:buNone/>
                      </a:pPr>
                      <a:r>
                        <a:rPr b="1" lang="en-US" sz="3000" u="none" cap="none" strike="noStrike"/>
                        <a:t>Naïve Bayes</a:t>
                      </a:r>
                      <a:endParaRPr/>
                    </a:p>
                  </a:txBody>
                  <a:tcPr marT="45725" marB="45725" marR="91450" marL="91450"/>
                </a:tc>
                <a:tc>
                  <a:txBody>
                    <a:bodyPr/>
                    <a:lstStyle/>
                    <a:p>
                      <a:pPr indent="0" lvl="0" marL="0" marR="0" rtl="0" algn="ctr">
                        <a:spcBef>
                          <a:spcPts val="0"/>
                        </a:spcBef>
                        <a:spcAft>
                          <a:spcPts val="0"/>
                        </a:spcAft>
                        <a:buNone/>
                      </a:pPr>
                      <a:r>
                        <a:rPr b="1" lang="en-US" sz="3000" u="none" cap="none" strike="noStrike"/>
                        <a:t>54</a:t>
                      </a:r>
                      <a:endParaRPr/>
                    </a:p>
                  </a:txBody>
                  <a:tcPr marT="45725" marB="45725" marR="91450" marL="91450"/>
                </a:tc>
                <a:tc>
                  <a:txBody>
                    <a:bodyPr/>
                    <a:lstStyle/>
                    <a:p>
                      <a:pPr indent="0" lvl="0" marL="0" marR="0" rtl="0" algn="ctr">
                        <a:spcBef>
                          <a:spcPts val="0"/>
                        </a:spcBef>
                        <a:spcAft>
                          <a:spcPts val="0"/>
                        </a:spcAft>
                        <a:buNone/>
                      </a:pPr>
                      <a:r>
                        <a:rPr b="1" lang="en-US" sz="3000" u="none" cap="none" strike="noStrike"/>
                        <a:t>47</a:t>
                      </a:r>
                      <a:endParaRPr/>
                    </a:p>
                  </a:txBody>
                  <a:tcPr marT="45725" marB="45725" marR="91450" marL="91450"/>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44"/>
          <p:cNvSpPr/>
          <p:nvPr/>
        </p:nvSpPr>
        <p:spPr>
          <a:xfrm rot="-5400000">
            <a:off x="4000500" y="-4000500"/>
            <a:ext cx="10287000" cy="18288000"/>
          </a:xfrm>
          <a:custGeom>
            <a:rect b="b" l="l" r="r" t="t"/>
            <a:pathLst>
              <a:path extrusionOk="0" h="18288000" w="10287000">
                <a:moveTo>
                  <a:pt x="10287000" y="0"/>
                </a:moveTo>
                <a:lnTo>
                  <a:pt x="10287000" y="18288000"/>
                </a:lnTo>
                <a:lnTo>
                  <a:pt x="0" y="18288000"/>
                </a:lnTo>
                <a:lnTo>
                  <a:pt x="0" y="0"/>
                </a:lnTo>
                <a:lnTo>
                  <a:pt x="10287000" y="0"/>
                </a:lnTo>
                <a:close/>
              </a:path>
            </a:pathLst>
          </a:custGeom>
          <a:blipFill rotWithShape="1">
            <a:blip r:embed="rId3">
              <a:alphaModFix/>
            </a:blip>
            <a:stretch>
              <a:fillRect b="-2747" l="-71865" r="-74156" t="-363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5" name="Google Shape;415;p44"/>
          <p:cNvSpPr/>
          <p:nvPr/>
        </p:nvSpPr>
        <p:spPr>
          <a:xfrm>
            <a:off x="-2329398" y="8614893"/>
            <a:ext cx="4899948" cy="3344214"/>
          </a:xfrm>
          <a:custGeom>
            <a:rect b="b" l="l" r="r" t="t"/>
            <a:pathLst>
              <a:path extrusionOk="0" h="3344214" w="4899948">
                <a:moveTo>
                  <a:pt x="0" y="0"/>
                </a:moveTo>
                <a:lnTo>
                  <a:pt x="4899947" y="0"/>
                </a:lnTo>
                <a:lnTo>
                  <a:pt x="4899947" y="3344214"/>
                </a:lnTo>
                <a:lnTo>
                  <a:pt x="0" y="3344214"/>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6" name="Google Shape;416;p44"/>
          <p:cNvSpPr/>
          <p:nvPr/>
        </p:nvSpPr>
        <p:spPr>
          <a:xfrm>
            <a:off x="6030709" y="9258300"/>
            <a:ext cx="3059829" cy="751049"/>
          </a:xfrm>
          <a:custGeom>
            <a:rect b="b" l="l" r="r" t="t"/>
            <a:pathLst>
              <a:path extrusionOk="0" h="751049" w="3059829">
                <a:moveTo>
                  <a:pt x="0" y="0"/>
                </a:moveTo>
                <a:lnTo>
                  <a:pt x="3059829" y="0"/>
                </a:lnTo>
                <a:lnTo>
                  <a:pt x="3059829" y="751049"/>
                </a:lnTo>
                <a:lnTo>
                  <a:pt x="0" y="751049"/>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7" name="Google Shape;417;p44"/>
          <p:cNvSpPr/>
          <p:nvPr/>
        </p:nvSpPr>
        <p:spPr>
          <a:xfrm>
            <a:off x="14215205" y="8540136"/>
            <a:ext cx="4602314" cy="3618569"/>
          </a:xfrm>
          <a:custGeom>
            <a:rect b="b" l="l" r="r" t="t"/>
            <a:pathLst>
              <a:path extrusionOk="0" h="3618569" w="4602314">
                <a:moveTo>
                  <a:pt x="0" y="0"/>
                </a:moveTo>
                <a:lnTo>
                  <a:pt x="4602314" y="0"/>
                </a:lnTo>
                <a:lnTo>
                  <a:pt x="4602314" y="3618570"/>
                </a:lnTo>
                <a:lnTo>
                  <a:pt x="0" y="3618570"/>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8" name="Google Shape;418;p44"/>
          <p:cNvSpPr/>
          <p:nvPr/>
        </p:nvSpPr>
        <p:spPr>
          <a:xfrm>
            <a:off x="-674156" y="-1072630"/>
            <a:ext cx="4899948" cy="3068592"/>
          </a:xfrm>
          <a:custGeom>
            <a:rect b="b" l="l" r="r" t="t"/>
            <a:pathLst>
              <a:path extrusionOk="0" h="3068592" w="4899948">
                <a:moveTo>
                  <a:pt x="0" y="0"/>
                </a:moveTo>
                <a:lnTo>
                  <a:pt x="4899948" y="0"/>
                </a:lnTo>
                <a:lnTo>
                  <a:pt x="4899948" y="3068592"/>
                </a:lnTo>
                <a:lnTo>
                  <a:pt x="0" y="3068592"/>
                </a:lnTo>
                <a:lnTo>
                  <a:pt x="0" y="0"/>
                </a:lnTo>
                <a:close/>
              </a:path>
            </a:pathLst>
          </a:cu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9" name="Google Shape;419;p44"/>
          <p:cNvSpPr/>
          <p:nvPr/>
        </p:nvSpPr>
        <p:spPr>
          <a:xfrm>
            <a:off x="12686214" y="-2578193"/>
            <a:ext cx="4292424" cy="3870986"/>
          </a:xfrm>
          <a:custGeom>
            <a:rect b="b" l="l" r="r" t="t"/>
            <a:pathLst>
              <a:path extrusionOk="0" h="3870986" w="4292424">
                <a:moveTo>
                  <a:pt x="0" y="0"/>
                </a:moveTo>
                <a:lnTo>
                  <a:pt x="4292424" y="0"/>
                </a:lnTo>
                <a:lnTo>
                  <a:pt x="4292424" y="3870986"/>
                </a:lnTo>
                <a:lnTo>
                  <a:pt x="0" y="3870986"/>
                </a:lnTo>
                <a:lnTo>
                  <a:pt x="0" y="0"/>
                </a:lnTo>
                <a:close/>
              </a:path>
            </a:pathLst>
          </a:custGeom>
          <a:blipFill rotWithShape="1">
            <a:blip r:embed="rId8">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0" name="Google Shape;420;p44"/>
          <p:cNvSpPr/>
          <p:nvPr/>
        </p:nvSpPr>
        <p:spPr>
          <a:xfrm>
            <a:off x="10138935" y="9258300"/>
            <a:ext cx="4076270" cy="2863579"/>
          </a:xfrm>
          <a:custGeom>
            <a:rect b="b" l="l" r="r" t="t"/>
            <a:pathLst>
              <a:path extrusionOk="0" h="2863579" w="4076270">
                <a:moveTo>
                  <a:pt x="0" y="0"/>
                </a:moveTo>
                <a:lnTo>
                  <a:pt x="4076270" y="0"/>
                </a:lnTo>
                <a:lnTo>
                  <a:pt x="4076270" y="2863579"/>
                </a:lnTo>
                <a:lnTo>
                  <a:pt x="0" y="2863579"/>
                </a:lnTo>
                <a:lnTo>
                  <a:pt x="0" y="0"/>
                </a:lnTo>
                <a:close/>
              </a:path>
            </a:pathLst>
          </a:custGeom>
          <a:blipFill rotWithShape="1">
            <a:blip r:embed="rId9">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1" name="Google Shape;421;p44"/>
          <p:cNvSpPr/>
          <p:nvPr/>
        </p:nvSpPr>
        <p:spPr>
          <a:xfrm>
            <a:off x="7409323" y="-2700100"/>
            <a:ext cx="5493058" cy="4114800"/>
          </a:xfrm>
          <a:custGeom>
            <a:rect b="b" l="l" r="r" t="t"/>
            <a:pathLst>
              <a:path extrusionOk="0" h="4114800" w="5493058">
                <a:moveTo>
                  <a:pt x="0" y="0"/>
                </a:moveTo>
                <a:lnTo>
                  <a:pt x="5493058" y="0"/>
                </a:lnTo>
                <a:lnTo>
                  <a:pt x="5493058" y="4114800"/>
                </a:lnTo>
                <a:lnTo>
                  <a:pt x="0" y="4114800"/>
                </a:lnTo>
                <a:lnTo>
                  <a:pt x="0" y="0"/>
                </a:lnTo>
                <a:close/>
              </a:path>
            </a:pathLst>
          </a:custGeom>
          <a:blipFill rotWithShape="1">
            <a:blip r:embed="rId10">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2" name="Google Shape;422;p44"/>
          <p:cNvSpPr/>
          <p:nvPr/>
        </p:nvSpPr>
        <p:spPr>
          <a:xfrm rot="4747568">
            <a:off x="-2972342" y="3665317"/>
            <a:ext cx="4896097" cy="2735694"/>
          </a:xfrm>
          <a:custGeom>
            <a:rect b="b" l="l" r="r" t="t"/>
            <a:pathLst>
              <a:path extrusionOk="0" h="2735694" w="4896097">
                <a:moveTo>
                  <a:pt x="0" y="0"/>
                </a:moveTo>
                <a:lnTo>
                  <a:pt x="4896097" y="0"/>
                </a:lnTo>
                <a:lnTo>
                  <a:pt x="4896097" y="2735694"/>
                </a:lnTo>
                <a:lnTo>
                  <a:pt x="0" y="2735694"/>
                </a:lnTo>
                <a:lnTo>
                  <a:pt x="0" y="0"/>
                </a:lnTo>
                <a:close/>
              </a:path>
            </a:pathLst>
          </a:custGeom>
          <a:blipFill rotWithShape="1">
            <a:blip r:embed="rId11">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3" name="Google Shape;423;p44"/>
          <p:cNvSpPr/>
          <p:nvPr/>
        </p:nvSpPr>
        <p:spPr>
          <a:xfrm>
            <a:off x="4831481" y="-1626507"/>
            <a:ext cx="2892762" cy="2919301"/>
          </a:xfrm>
          <a:custGeom>
            <a:rect b="b" l="l" r="r" t="t"/>
            <a:pathLst>
              <a:path extrusionOk="0" h="2919301" w="2892762">
                <a:moveTo>
                  <a:pt x="0" y="0"/>
                </a:moveTo>
                <a:lnTo>
                  <a:pt x="2892761" y="0"/>
                </a:lnTo>
                <a:lnTo>
                  <a:pt x="2892761" y="2919300"/>
                </a:lnTo>
                <a:lnTo>
                  <a:pt x="0" y="2919300"/>
                </a:lnTo>
                <a:lnTo>
                  <a:pt x="0" y="0"/>
                </a:lnTo>
                <a:close/>
              </a:path>
            </a:pathLst>
          </a:custGeom>
          <a:blipFill rotWithShape="1">
            <a:blip r:embed="rId1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4" name="Google Shape;424;p44"/>
          <p:cNvSpPr/>
          <p:nvPr/>
        </p:nvSpPr>
        <p:spPr>
          <a:xfrm>
            <a:off x="17259300" y="2262342"/>
            <a:ext cx="3575541" cy="3575541"/>
          </a:xfrm>
          <a:custGeom>
            <a:rect b="b" l="l" r="r" t="t"/>
            <a:pathLst>
              <a:path extrusionOk="0" h="3575541" w="3575541">
                <a:moveTo>
                  <a:pt x="0" y="0"/>
                </a:moveTo>
                <a:lnTo>
                  <a:pt x="3575541" y="0"/>
                </a:lnTo>
                <a:lnTo>
                  <a:pt x="3575541" y="3575541"/>
                </a:lnTo>
                <a:lnTo>
                  <a:pt x="0" y="3575541"/>
                </a:lnTo>
                <a:lnTo>
                  <a:pt x="0" y="0"/>
                </a:lnTo>
                <a:close/>
              </a:path>
            </a:pathLst>
          </a:custGeom>
          <a:blipFill rotWithShape="1">
            <a:blip r:embed="rId1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5" name="Google Shape;425;p44"/>
          <p:cNvSpPr/>
          <p:nvPr/>
        </p:nvSpPr>
        <p:spPr>
          <a:xfrm>
            <a:off x="2570549" y="9093737"/>
            <a:ext cx="2587020" cy="2386526"/>
          </a:xfrm>
          <a:custGeom>
            <a:rect b="b" l="l" r="r" t="t"/>
            <a:pathLst>
              <a:path extrusionOk="0" h="2386526" w="2587020">
                <a:moveTo>
                  <a:pt x="0" y="0"/>
                </a:moveTo>
                <a:lnTo>
                  <a:pt x="2587020" y="0"/>
                </a:lnTo>
                <a:lnTo>
                  <a:pt x="2587020" y="2386526"/>
                </a:lnTo>
                <a:lnTo>
                  <a:pt x="0" y="2386526"/>
                </a:lnTo>
                <a:lnTo>
                  <a:pt x="0" y="0"/>
                </a:lnTo>
                <a:close/>
              </a:path>
            </a:pathLst>
          </a:custGeom>
          <a:blipFill rotWithShape="1">
            <a:blip r:embed="rId1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6" name="Google Shape;426;p44"/>
          <p:cNvSpPr/>
          <p:nvPr/>
        </p:nvSpPr>
        <p:spPr>
          <a:xfrm rot="-5282649">
            <a:off x="16440369" y="6970869"/>
            <a:ext cx="3382987" cy="1154444"/>
          </a:xfrm>
          <a:custGeom>
            <a:rect b="b" l="l" r="r" t="t"/>
            <a:pathLst>
              <a:path extrusionOk="0" h="1154444" w="3382987">
                <a:moveTo>
                  <a:pt x="0" y="0"/>
                </a:moveTo>
                <a:lnTo>
                  <a:pt x="3382987" y="0"/>
                </a:lnTo>
                <a:lnTo>
                  <a:pt x="3382987" y="1154445"/>
                </a:lnTo>
                <a:lnTo>
                  <a:pt x="0" y="1154445"/>
                </a:lnTo>
                <a:lnTo>
                  <a:pt x="0" y="0"/>
                </a:lnTo>
                <a:close/>
              </a:path>
            </a:pathLst>
          </a:custGeom>
          <a:blipFill rotWithShape="1">
            <a:blip r:embed="rId1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7" name="Google Shape;427;p44"/>
          <p:cNvSpPr/>
          <p:nvPr/>
        </p:nvSpPr>
        <p:spPr>
          <a:xfrm>
            <a:off x="16978638" y="-642644"/>
            <a:ext cx="3104522" cy="3342688"/>
          </a:xfrm>
          <a:custGeom>
            <a:rect b="b" l="l" r="r" t="t"/>
            <a:pathLst>
              <a:path extrusionOk="0" h="3342688" w="3104522">
                <a:moveTo>
                  <a:pt x="0" y="0"/>
                </a:moveTo>
                <a:lnTo>
                  <a:pt x="3104522" y="0"/>
                </a:lnTo>
                <a:lnTo>
                  <a:pt x="3104522" y="3342688"/>
                </a:lnTo>
                <a:lnTo>
                  <a:pt x="0" y="3342688"/>
                </a:lnTo>
                <a:lnTo>
                  <a:pt x="0" y="0"/>
                </a:lnTo>
                <a:close/>
              </a:path>
            </a:pathLst>
          </a:custGeom>
          <a:blipFill rotWithShape="1">
            <a:blip r:embed="rId1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8" name="Google Shape;428;p44"/>
          <p:cNvSpPr txBox="1"/>
          <p:nvPr/>
        </p:nvSpPr>
        <p:spPr>
          <a:xfrm>
            <a:off x="3688802" y="3019867"/>
            <a:ext cx="10910396" cy="3364511"/>
          </a:xfrm>
          <a:prstGeom prst="rect">
            <a:avLst/>
          </a:prstGeom>
          <a:noFill/>
          <a:ln>
            <a:noFill/>
          </a:ln>
        </p:spPr>
        <p:txBody>
          <a:bodyPr anchorCtr="0" anchor="t" bIns="0" lIns="0" spcFirstLastPara="1" rIns="0" wrap="square" tIns="0">
            <a:spAutoFit/>
          </a:bodyPr>
          <a:lstStyle/>
          <a:p>
            <a:pPr indent="0" lvl="0" marL="0" marR="0" rtl="0" algn="ctr">
              <a:lnSpc>
                <a:spcPct val="86997"/>
              </a:lnSpc>
              <a:spcBef>
                <a:spcPts val="0"/>
              </a:spcBef>
              <a:spcAft>
                <a:spcPts val="0"/>
              </a:spcAft>
              <a:buNone/>
            </a:pPr>
            <a:r>
              <a:rPr b="1" lang="en-US" sz="14597">
                <a:solidFill>
                  <a:srgbClr val="000000"/>
                </a:solidFill>
                <a:latin typeface="DM Sans"/>
                <a:ea typeface="DM Sans"/>
                <a:cs typeface="DM Sans"/>
                <a:sym typeface="DM Sans"/>
              </a:rPr>
              <a:t>Thank you very much!</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